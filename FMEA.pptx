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58" r:id="rId5"/>
    <p:sldId id="262" r:id="rId6"/>
    <p:sldId id="261" r:id="rId7"/>
    <p:sldId id="260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9F93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1" autoAdjust="0"/>
    <p:restoredTop sz="94660"/>
  </p:normalViewPr>
  <p:slideViewPr>
    <p:cSldViewPr snapToGrid="0">
      <p:cViewPr>
        <p:scale>
          <a:sx n="100" d="100"/>
          <a:sy n="100" d="100"/>
        </p:scale>
        <p:origin x="264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01192-585E-4F1E-1465-A6FB9C25FB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4EE322-8114-E510-5E67-2BCCB9B7DB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35977A-BC61-40B9-8E26-A20B8A8D40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02783-A46B-4F9C-9DE5-C2BDFB5AAE06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9C3E76-736D-CAB1-09D8-63498362A5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5E5BF1-5E42-D1AD-A1A3-DEF9BAB7C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91EB2-CE39-4E13-889E-1B3633794A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9273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1D751-EF5F-5F0B-40FD-10DEB64E9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D5EF82-8821-7DD3-2DE1-A5E6C3CD9C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107DDA-0A0F-5C2B-5EB7-A67184F481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02783-A46B-4F9C-9DE5-C2BDFB5AAE06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ED17A8-B59B-BAC1-A6E5-7F61AF4A36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5089EA-816D-A8C2-8E3A-E937CFB9A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91EB2-CE39-4E13-889E-1B3633794A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657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B3C26D-27BC-59CA-9BC4-919EE87D3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AEDBC0-BDAA-8260-5C52-1351143DD6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BF8B78-0C5A-7102-F2CC-A510A669E5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02783-A46B-4F9C-9DE5-C2BDFB5AAE06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FA276A-8A35-D979-8B97-6D6C08DC9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F5833E-370A-6486-CF4F-8AFE2F9CB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91EB2-CE39-4E13-889E-1B3633794A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017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9F21E9-D3A6-746B-0BC8-F91F7A628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E411C3-5605-63A6-3634-8FBBB3129F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966E12-77E3-6343-D88D-524CC8F654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07A008-EB83-32A4-5892-C7F14B1AA4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02783-A46B-4F9C-9DE5-C2BDFB5AAE06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40E260-7962-5F34-F875-01DEEBB2B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E2FC73-FED5-5FE2-A67E-D8BB15425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91EB2-CE39-4E13-889E-1B3633794A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0438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EB6E9-8D93-1AC7-8DE9-166518EA5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899371-229B-C6EF-FDFA-B8BADF28F0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A7B7AC-B124-F9BF-5701-FEC27196E0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E21F8E-92CB-B8C5-177F-5C95453FE5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0040BE-843B-5D78-5A95-26CD1AEA8B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7ADA291-3589-E165-0B75-C02E8C07F1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02783-A46B-4F9C-9DE5-C2BDFB5AAE06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D5841-53E9-FF29-BE50-5DD25AEFC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F017884-99E5-D3BB-9C72-17B9D27D5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91EB2-CE39-4E13-889E-1B3633794A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2157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B797E-F028-2D1C-9C5E-11C6BBA91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4FCC5E-7573-7662-7E56-8E83F2F30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02783-A46B-4F9C-9DE5-C2BDFB5AAE06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B94697-B1FD-EB63-3FC8-3D4DD3ECC3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9BE893-A995-0013-A08A-9620ECE4B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91EB2-CE39-4E13-889E-1B3633794A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9754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D0ECD2-DE95-5353-D59F-5618E8BADD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02783-A46B-4F9C-9DE5-C2BDFB5AAE06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CC6135-7F36-273A-E2D1-E4C9BFC091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9E7C94-9FC6-BDC9-6658-7018F0921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91EB2-CE39-4E13-889E-1B3633794A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573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272F9-E9BC-A5B3-2C02-6E69EF8E3A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98A47C-3B98-CA8C-206D-9D7B9F184D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E744C8-7B10-2FA1-09B8-742D007CA2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BFB10C-7335-712F-521C-314BD3822B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02783-A46B-4F9C-9DE5-C2BDFB5AAE06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951567-B4FB-115B-EC74-C971A5B8F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EE114A-C5F7-47C2-38A7-4D5F8FB4A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91EB2-CE39-4E13-889E-1B3633794A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65860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82BCF8-E926-137F-2E8F-C9B3C5FD2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611B590-00D2-95CB-480E-DC851A5ABC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A6D4C7-5419-ABFC-0B2B-E0AC252230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F6E6CB-6235-89A2-38EC-A22BD679DF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02783-A46B-4F9C-9DE5-C2BDFB5AAE06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3DE588-339B-1F2B-504F-4D63B0BC1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52F7AC-A9ED-8142-CD04-DD9686723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91EB2-CE39-4E13-889E-1B3633794A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3239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0A4EA-0089-83F4-9C32-D2A6D1D3F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1B322E-0049-4A0A-85F2-E3321D2D36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433ED5-BC1A-A1BC-B1A2-AA592D8858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02783-A46B-4F9C-9DE5-C2BDFB5AAE06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6A6A62-8EEF-C355-2DA0-7EF63F19D0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AABE43-0C8F-CC2C-5A4C-9DD53C3BC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91EB2-CE39-4E13-889E-1B3633794A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5014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71C5CD-A772-0FAB-AB3B-DC61CCAE82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D0959A-9BDE-ABE2-C97F-4FC1096D7C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243E1C-A624-65DB-60EC-CABD9325F2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02783-A46B-4F9C-9DE5-C2BDFB5AAE06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E4D1FB-4E17-C651-B8D2-E59ADDE11A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71FE71-D6B1-C0FB-8D0E-FF2B0379C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C91EB2-CE39-4E13-889E-1B3633794A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9872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A602793-0F61-F20E-592D-5C06B7367B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591CC8-5B66-8DE3-084B-E210536047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1AAA95-37A3-4D4F-C4A2-6846F9FDF0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A02783-A46B-4F9C-9DE5-C2BDFB5AAE06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8ECC98-BCE7-61B5-93D6-196AA8914E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A877FC-3D2B-FF6B-DAF5-519922F67B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C91EB2-CE39-4E13-889E-1B3633794A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474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B5DBF-0AC3-3CE9-43AF-58FBB3938A2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FMEA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89F8BE-2DCD-1613-917F-B4800FF0C6B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Aphiwat D.</a:t>
            </a:r>
          </a:p>
        </p:txBody>
      </p:sp>
    </p:spTree>
    <p:extLst>
      <p:ext uri="{BB962C8B-B14F-4D97-AF65-F5344CB8AC3E}">
        <p14:creationId xmlns:p14="http://schemas.microsoft.com/office/powerpoint/2010/main" val="11541298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414F87-2BE6-2F8C-9462-EC5344B6F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0D9D28CA-D7F9-3A4C-76A9-3B6D6660AAAF}"/>
              </a:ext>
            </a:extLst>
          </p:cNvPr>
          <p:cNvCxnSpPr>
            <a:cxnSpLocks/>
          </p:cNvCxnSpPr>
          <p:nvPr/>
        </p:nvCxnSpPr>
        <p:spPr>
          <a:xfrm>
            <a:off x="-30653" y="2434258"/>
            <a:ext cx="12222653" cy="0"/>
          </a:xfrm>
          <a:prstGeom prst="line">
            <a:avLst/>
          </a:prstGeom>
          <a:ln w="12700">
            <a:solidFill>
              <a:srgbClr val="159F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9C01D07B-BF7F-664B-554B-DEA73DB4CEA2}"/>
              </a:ext>
            </a:extLst>
          </p:cNvPr>
          <p:cNvCxnSpPr>
            <a:cxnSpLocks/>
          </p:cNvCxnSpPr>
          <p:nvPr/>
        </p:nvCxnSpPr>
        <p:spPr>
          <a:xfrm>
            <a:off x="0" y="1386508"/>
            <a:ext cx="12192000" cy="4269"/>
          </a:xfrm>
          <a:prstGeom prst="line">
            <a:avLst/>
          </a:prstGeom>
          <a:ln w="12700">
            <a:solidFill>
              <a:srgbClr val="159F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Title 3">
            <a:extLst>
              <a:ext uri="{FF2B5EF4-FFF2-40B4-BE49-F238E27FC236}">
                <a16:creationId xmlns:a16="http://schemas.microsoft.com/office/drawing/2014/main" id="{31C7D3A0-CA69-94F7-DA0B-83CBADB75B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064" y="71800"/>
            <a:ext cx="8529586" cy="567591"/>
          </a:xfrm>
        </p:spPr>
        <p:txBody>
          <a:bodyPr>
            <a:noAutofit/>
          </a:bodyPr>
          <a:lstStyle/>
          <a:p>
            <a:r>
              <a:rPr lang="en-US" sz="3200" b="1" dirty="0">
                <a:solidFill>
                  <a:srgbClr val="159F93"/>
                </a:solidFill>
              </a:rPr>
              <a:t>Overall Communication Flow (Webex base)</a:t>
            </a:r>
          </a:p>
        </p:txBody>
      </p: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2E934C37-CDC8-059A-55A2-A60CC7C36B8B}"/>
              </a:ext>
            </a:extLst>
          </p:cNvPr>
          <p:cNvCxnSpPr>
            <a:cxnSpLocks/>
          </p:cNvCxnSpPr>
          <p:nvPr/>
        </p:nvCxnSpPr>
        <p:spPr>
          <a:xfrm>
            <a:off x="0" y="628356"/>
            <a:ext cx="2812075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8C5FE4BB-0FD9-45C8-FBE4-949A9CC3FB23}"/>
              </a:ext>
            </a:extLst>
          </p:cNvPr>
          <p:cNvSpPr/>
          <p:nvPr/>
        </p:nvSpPr>
        <p:spPr>
          <a:xfrm>
            <a:off x="6108097" y="689368"/>
            <a:ext cx="2330986" cy="542476"/>
          </a:xfrm>
          <a:prstGeom prst="rect">
            <a:avLst/>
          </a:prstGeom>
          <a:solidFill>
            <a:srgbClr val="159F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/>
              <a:t>IT &amp; FI Main Coordinator 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9E446B29-EC36-53E7-1960-484B64D1446A}"/>
              </a:ext>
            </a:extLst>
          </p:cNvPr>
          <p:cNvSpPr/>
          <p:nvPr/>
        </p:nvSpPr>
        <p:spPr>
          <a:xfrm>
            <a:off x="8527957" y="1745463"/>
            <a:ext cx="389550" cy="180756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40A48C13-E0CC-84FA-F513-0F423F7DD999}"/>
              </a:ext>
            </a:extLst>
          </p:cNvPr>
          <p:cNvSpPr/>
          <p:nvPr/>
        </p:nvSpPr>
        <p:spPr>
          <a:xfrm rot="10800000">
            <a:off x="8506584" y="1922714"/>
            <a:ext cx="389550" cy="180756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7921F9D-7CA1-FF03-1752-85E4AC6E12EE}"/>
              </a:ext>
            </a:extLst>
          </p:cNvPr>
          <p:cNvSpPr/>
          <p:nvPr/>
        </p:nvSpPr>
        <p:spPr>
          <a:xfrm>
            <a:off x="6095930" y="1666584"/>
            <a:ext cx="2343153" cy="505962"/>
          </a:xfrm>
          <a:prstGeom prst="rect">
            <a:avLst/>
          </a:prstGeom>
          <a:solidFill>
            <a:srgbClr val="159F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/>
              <a:t>FI Main Coordinator (WT &amp; FPM ) &amp; FI coordinator for each Team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183A10E-4FB4-2B5C-5DEC-8C92626E59BD}"/>
              </a:ext>
            </a:extLst>
          </p:cNvPr>
          <p:cNvSpPr/>
          <p:nvPr/>
        </p:nvSpPr>
        <p:spPr>
          <a:xfrm>
            <a:off x="9009510" y="1681240"/>
            <a:ext cx="2637883" cy="491306"/>
          </a:xfrm>
          <a:prstGeom prst="rect">
            <a:avLst/>
          </a:prstGeom>
          <a:solidFill>
            <a:srgbClr val="159F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/>
              <a:t>FI MDI Coordinator &amp; MDI Support Team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4632BE63-BF11-3BD5-4C4F-3D453092D869}"/>
              </a:ext>
            </a:extLst>
          </p:cNvPr>
          <p:cNvSpPr/>
          <p:nvPr/>
        </p:nvSpPr>
        <p:spPr>
          <a:xfrm rot="5400000">
            <a:off x="7260495" y="2378917"/>
            <a:ext cx="421630" cy="175286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2714591-FD0A-8C16-96B8-823345C8EAAF}"/>
              </a:ext>
            </a:extLst>
          </p:cNvPr>
          <p:cNvSpPr/>
          <p:nvPr/>
        </p:nvSpPr>
        <p:spPr>
          <a:xfrm>
            <a:off x="6121852" y="2728273"/>
            <a:ext cx="2343153" cy="567591"/>
          </a:xfrm>
          <a:prstGeom prst="rect">
            <a:avLst/>
          </a:prstGeom>
          <a:solidFill>
            <a:srgbClr val="159F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/>
              <a:t>FI Main Coordinator &amp; IT OS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6B461A77-5DEC-B5D9-C7A0-335173323602}"/>
              </a:ext>
            </a:extLst>
          </p:cNvPr>
          <p:cNvSpPr/>
          <p:nvPr/>
        </p:nvSpPr>
        <p:spPr>
          <a:xfrm rot="16200000">
            <a:off x="7005970" y="1312847"/>
            <a:ext cx="337161" cy="180756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B51829ED-74AA-15F5-21AD-8F284127ACFE}"/>
              </a:ext>
            </a:extLst>
          </p:cNvPr>
          <p:cNvSpPr/>
          <p:nvPr/>
        </p:nvSpPr>
        <p:spPr>
          <a:xfrm rot="5400000">
            <a:off x="7305465" y="1334855"/>
            <a:ext cx="337161" cy="180756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0D34F92E-6AA3-D20C-C1F7-FD00FB93A43C}"/>
              </a:ext>
            </a:extLst>
          </p:cNvPr>
          <p:cNvSpPr/>
          <p:nvPr/>
        </p:nvSpPr>
        <p:spPr>
          <a:xfrm rot="16200000">
            <a:off x="6968265" y="2362839"/>
            <a:ext cx="421628" cy="175285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BC4373A-47FC-F496-4E69-8359B764FA6D}"/>
              </a:ext>
            </a:extLst>
          </p:cNvPr>
          <p:cNvSpPr txBox="1"/>
          <p:nvPr/>
        </p:nvSpPr>
        <p:spPr>
          <a:xfrm>
            <a:off x="3275148" y="3433744"/>
            <a:ext cx="2572916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 Main Coordinator (WT &amp; FPM) &amp; FI Coordinators for Each Team Chat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17FCF52-6E52-18B5-7B6D-5CF84885B76E}"/>
              </a:ext>
            </a:extLst>
          </p:cNvPr>
          <p:cNvSpPr txBox="1"/>
          <p:nvPr/>
        </p:nvSpPr>
        <p:spPr>
          <a:xfrm>
            <a:off x="3166589" y="3844218"/>
            <a:ext cx="265119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000" b="1" dirty="0"/>
              <a:t>Members</a:t>
            </a:r>
          </a:p>
          <a:p>
            <a:r>
              <a:rPr lang="en-US" sz="1000" dirty="0"/>
              <a:t>FI Main Coordinator (Wafer Test, FPM)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000" dirty="0"/>
              <a:t>WT Coordinator: Adam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000" dirty="0"/>
              <a:t>FPM Coordinator: Jenjira</a:t>
            </a:r>
          </a:p>
          <a:p>
            <a:r>
              <a:rPr lang="en-US" sz="1000" dirty="0"/>
              <a:t>FI Coordinators for Each Team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000" dirty="0"/>
              <a:t>MDI : Aphiwat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21C7092-1DBA-8611-A591-41EDE471F46E}"/>
              </a:ext>
            </a:extLst>
          </p:cNvPr>
          <p:cNvSpPr txBox="1"/>
          <p:nvPr/>
        </p:nvSpPr>
        <p:spPr>
          <a:xfrm>
            <a:off x="3102849" y="4840650"/>
            <a:ext cx="3019297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000" b="1" dirty="0"/>
              <a:t>Responsibilities and Communication Role</a:t>
            </a:r>
          </a:p>
          <a:p>
            <a:pPr>
              <a:buNone/>
            </a:pPr>
            <a:endParaRPr lang="en-US" sz="1000" b="1" dirty="0"/>
          </a:p>
          <a:p>
            <a:pPr marL="685800" lvl="1" indent="-228600">
              <a:buFont typeface="+mj-lt"/>
              <a:buAutoNum type="arabicPeriod"/>
            </a:pPr>
            <a:r>
              <a:rPr lang="en-US" sz="1000" dirty="0"/>
              <a:t>Consolidate updates from all FI teams</a:t>
            </a:r>
          </a:p>
          <a:p>
            <a:pPr marL="685800" lvl="1" indent="-228600">
              <a:buFont typeface="+mj-lt"/>
              <a:buAutoNum type="arabicPeriod"/>
            </a:pPr>
            <a:r>
              <a:rPr lang="en-US" sz="1000" dirty="0"/>
              <a:t>Coordinate shutdown/startup sequencing based on priority</a:t>
            </a:r>
          </a:p>
          <a:p>
            <a:pPr marL="685800" lvl="1" indent="-228600">
              <a:buFont typeface="+mj-lt"/>
              <a:buAutoNum type="arabicPeriod"/>
            </a:pPr>
            <a:r>
              <a:rPr lang="en-US" sz="1000" dirty="0"/>
              <a:t>Make decisions when escalation is required</a:t>
            </a:r>
          </a:p>
          <a:p>
            <a:pPr marL="685800" lvl="1" indent="-228600">
              <a:buFont typeface="+mj-lt"/>
              <a:buAutoNum type="arabicPeriod"/>
            </a:pPr>
            <a:r>
              <a:rPr lang="en-US" sz="1000" dirty="0"/>
              <a:t>Relay instructions between IT main coordinator ↔ FI teams</a:t>
            </a:r>
          </a:p>
          <a:p>
            <a:pPr marL="685800" lvl="1" indent="-228600">
              <a:buFont typeface="+mj-lt"/>
              <a:buAutoNum type="arabicPeriod"/>
            </a:pPr>
            <a:r>
              <a:rPr lang="en-US" sz="1000" dirty="0"/>
              <a:t>Confirm completion of each step before next priority begins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44E7FD0-79AC-87D8-69B4-3586D2A8DAB5}"/>
              </a:ext>
            </a:extLst>
          </p:cNvPr>
          <p:cNvSpPr txBox="1"/>
          <p:nvPr/>
        </p:nvSpPr>
        <p:spPr>
          <a:xfrm>
            <a:off x="401287" y="3509158"/>
            <a:ext cx="220417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IT &amp; FI Main Coordinator Chat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D17E950-F574-5137-90DE-AFAF321173E9}"/>
              </a:ext>
            </a:extLst>
          </p:cNvPr>
          <p:cNvSpPr txBox="1"/>
          <p:nvPr/>
        </p:nvSpPr>
        <p:spPr>
          <a:xfrm>
            <a:off x="233895" y="3849543"/>
            <a:ext cx="2538957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000" b="1" dirty="0"/>
              <a:t>Members</a:t>
            </a:r>
          </a:p>
          <a:p>
            <a:r>
              <a:rPr lang="en-US" sz="1000" dirty="0"/>
              <a:t>IT Main Coordinator (example: IT OS/Infra Lead)</a:t>
            </a:r>
          </a:p>
          <a:p>
            <a:r>
              <a:rPr lang="en-US" sz="1000" dirty="0"/>
              <a:t>FI Main Coordinator / Lead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 dirty="0"/>
              <a:t>Viki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 dirty="0" err="1"/>
              <a:t>Rameh</a:t>
            </a:r>
            <a:endParaRPr lang="en-US" sz="1000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 dirty="0"/>
              <a:t>Supanee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B786EE0-C743-CF2A-54C0-55E4211F8338}"/>
              </a:ext>
            </a:extLst>
          </p:cNvPr>
          <p:cNvSpPr txBox="1"/>
          <p:nvPr/>
        </p:nvSpPr>
        <p:spPr>
          <a:xfrm>
            <a:off x="182178" y="5013488"/>
            <a:ext cx="290659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000" b="1" dirty="0"/>
              <a:t>Responsibilities and  Communication Role</a:t>
            </a:r>
          </a:p>
          <a:p>
            <a:pPr>
              <a:buNone/>
            </a:pPr>
            <a:endParaRPr lang="en-US" sz="1000" b="1" dirty="0"/>
          </a:p>
          <a:p>
            <a:pPr marL="685800" lvl="1" indent="-228600">
              <a:buAutoNum type="arabicPeriod"/>
            </a:pPr>
            <a:r>
              <a:rPr lang="en-US" sz="1000" dirty="0"/>
              <a:t>Ensures Webex bridge is open and stable for all parties</a:t>
            </a:r>
          </a:p>
          <a:p>
            <a:pPr marL="685800" lvl="1" indent="-228600">
              <a:buAutoNum type="arabicPeriod"/>
            </a:pPr>
            <a:r>
              <a:rPr lang="en-US" sz="1000" dirty="0"/>
              <a:t>Handles high-level escalations</a:t>
            </a:r>
          </a:p>
          <a:p>
            <a:pPr marL="685800" lvl="1" indent="-228600">
              <a:buAutoNum type="arabicPeriod"/>
            </a:pPr>
            <a:r>
              <a:rPr lang="en-US" sz="1000" dirty="0"/>
              <a:t>Initiates communication to the FI main coordinator (WT, FPM)</a:t>
            </a:r>
          </a:p>
          <a:p>
            <a:pPr marL="685800" lvl="1" indent="-228600">
              <a:buAutoNum type="arabicPeriod"/>
            </a:pPr>
            <a:r>
              <a:rPr lang="en-US" sz="1000" dirty="0"/>
              <a:t>Communicates with both sides: FI and IT OS/Application teams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F9B5D61-56F6-6A1B-D1AB-61E270F50B7D}"/>
              </a:ext>
            </a:extLst>
          </p:cNvPr>
          <p:cNvSpPr txBox="1"/>
          <p:nvPr/>
        </p:nvSpPr>
        <p:spPr>
          <a:xfrm>
            <a:off x="6144842" y="3522728"/>
            <a:ext cx="2257496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 Main Coordinator &amp; IT OS Chat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CCBB8E2-6A7E-A998-6450-7BE99ABF373B}"/>
              </a:ext>
            </a:extLst>
          </p:cNvPr>
          <p:cNvSpPr txBox="1"/>
          <p:nvPr/>
        </p:nvSpPr>
        <p:spPr>
          <a:xfrm>
            <a:off x="6095930" y="3843937"/>
            <a:ext cx="265119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000" b="1" dirty="0"/>
              <a:t>Members</a:t>
            </a:r>
          </a:p>
          <a:p>
            <a:r>
              <a:rPr lang="en-US" sz="1000" dirty="0"/>
              <a:t>FI Main Coordinator (Wafer Test, FPM)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000" dirty="0"/>
              <a:t>WT Coordinator: Adam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000" dirty="0"/>
              <a:t>FPM Coordinator: Jenjira</a:t>
            </a:r>
          </a:p>
          <a:p>
            <a:r>
              <a:rPr lang="en-US" sz="1000" dirty="0"/>
              <a:t>IT OS / Server Administration Team : IT OS Leads (OS admins handling Linux/Windows)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E4011E6-A169-D991-2CE7-7EA198886D9A}"/>
              </a:ext>
            </a:extLst>
          </p:cNvPr>
          <p:cNvSpPr txBox="1"/>
          <p:nvPr/>
        </p:nvSpPr>
        <p:spPr>
          <a:xfrm>
            <a:off x="6071804" y="4897709"/>
            <a:ext cx="3017348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000" b="1" dirty="0"/>
              <a:t>Responsibilities and Communication Role</a:t>
            </a:r>
          </a:p>
          <a:p>
            <a:pPr>
              <a:buNone/>
            </a:pPr>
            <a:endParaRPr lang="en-US" sz="1000" b="1" dirty="0"/>
          </a:p>
          <a:p>
            <a:pPr marL="685800" lvl="1" indent="-228600">
              <a:buFont typeface="+mj-lt"/>
              <a:buAutoNum type="arabicPeriod"/>
            </a:pPr>
            <a:r>
              <a:rPr lang="en-US" sz="1000" dirty="0"/>
              <a:t>Sends confirmation to FI main coordinator when encounter OS/hardware/network issues  and add the Application Owner to Webex</a:t>
            </a:r>
          </a:p>
          <a:p>
            <a:pPr marL="685800" lvl="1" indent="-228600">
              <a:buFont typeface="+mj-lt"/>
              <a:buAutoNum type="arabicPeriod"/>
            </a:pPr>
            <a:r>
              <a:rPr lang="en-US" sz="1000" dirty="0"/>
              <a:t>Validate that power, network, WLAN, firewall are ready after relocation</a:t>
            </a:r>
          </a:p>
          <a:p>
            <a:pPr marL="685800" lvl="1" indent="-228600">
              <a:buFont typeface="+mj-lt"/>
              <a:buAutoNum type="arabicPeriod"/>
            </a:pPr>
            <a:r>
              <a:rPr lang="en-US" sz="1000" dirty="0"/>
              <a:t>Execute OS-level shutdown/startup as requested</a:t>
            </a:r>
          </a:p>
          <a:p>
            <a:pPr marL="685800" lvl="1" indent="-228600">
              <a:buFont typeface="+mj-lt"/>
              <a:buAutoNum type="arabicPeriod"/>
            </a:pPr>
            <a:r>
              <a:rPr lang="en-US" sz="1000" dirty="0"/>
              <a:t>Confirm when the environment is safe to proceed</a:t>
            </a:r>
          </a:p>
          <a:p>
            <a:pPr marL="685800" lvl="1" indent="-228600">
              <a:buFont typeface="+mj-lt"/>
              <a:buAutoNum type="arabicPeriod"/>
            </a:pPr>
            <a:endParaRPr lang="en-US" sz="10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6403128-CD1F-6C38-ABBA-34AB60479DCE}"/>
              </a:ext>
            </a:extLst>
          </p:cNvPr>
          <p:cNvSpPr txBox="1"/>
          <p:nvPr/>
        </p:nvSpPr>
        <p:spPr>
          <a:xfrm>
            <a:off x="9140865" y="3522728"/>
            <a:ext cx="298154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 MDI Coordinator &amp; MDI Support Team Chat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6DB64D9-86F7-D819-52C1-45A0C9DAC528}"/>
              </a:ext>
            </a:extLst>
          </p:cNvPr>
          <p:cNvSpPr txBox="1"/>
          <p:nvPr/>
        </p:nvSpPr>
        <p:spPr>
          <a:xfrm>
            <a:off x="9140865" y="3850371"/>
            <a:ext cx="2343153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000" b="1" dirty="0"/>
              <a:t>Members</a:t>
            </a:r>
          </a:p>
          <a:p>
            <a:r>
              <a:rPr lang="en-US" sz="1000" dirty="0"/>
              <a:t>MDI Coordinator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 dirty="0"/>
              <a:t>Aphiwat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 dirty="0"/>
              <a:t>Eugene</a:t>
            </a:r>
          </a:p>
          <a:p>
            <a:r>
              <a:rPr lang="en-US" sz="1000" dirty="0"/>
              <a:t>MDI Team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890BBF0-AFA7-11BA-2B2B-B983ACA9C6DF}"/>
              </a:ext>
            </a:extLst>
          </p:cNvPr>
          <p:cNvSpPr txBox="1"/>
          <p:nvPr/>
        </p:nvSpPr>
        <p:spPr>
          <a:xfrm>
            <a:off x="9089152" y="4859600"/>
            <a:ext cx="3017348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000" b="1" dirty="0"/>
              <a:t>Responsibilities and Communication Role</a:t>
            </a:r>
          </a:p>
          <a:p>
            <a:pPr>
              <a:buNone/>
            </a:pPr>
            <a:endParaRPr lang="en-US" sz="1000" b="1" dirty="0"/>
          </a:p>
          <a:p>
            <a:pPr marL="685800" lvl="1" indent="-228600">
              <a:buFont typeface="+mj-lt"/>
              <a:buAutoNum type="arabicPeriod"/>
            </a:pPr>
            <a:r>
              <a:rPr lang="en-US" sz="1000" dirty="0"/>
              <a:t>Execute shutdown/startup of MDI systems</a:t>
            </a:r>
          </a:p>
          <a:p>
            <a:pPr marL="685800" lvl="1" indent="-228600">
              <a:buFont typeface="+mj-lt"/>
              <a:buAutoNum type="arabicPeriod"/>
            </a:pPr>
            <a:r>
              <a:rPr lang="en-US" sz="1000" dirty="0"/>
              <a:t>Provide status updates in Webex</a:t>
            </a:r>
          </a:p>
          <a:p>
            <a:pPr marL="685800" lvl="1" indent="-228600">
              <a:buFont typeface="+mj-lt"/>
              <a:buAutoNum type="arabicPeriod"/>
            </a:pPr>
            <a:r>
              <a:rPr lang="en-US" sz="1000" dirty="0"/>
              <a:t>Communicates upward to FI main coordinator</a:t>
            </a:r>
          </a:p>
          <a:p>
            <a:pPr marL="685800" lvl="1" indent="-228600">
              <a:buFont typeface="+mj-lt"/>
              <a:buAutoNum type="arabicPeriod"/>
            </a:pPr>
            <a:r>
              <a:rPr lang="en-US" sz="1000" dirty="0"/>
              <a:t>Receives instructions downward (priority sequence)</a:t>
            </a:r>
          </a:p>
          <a:p>
            <a:pPr marL="685800" lvl="1" indent="-228600">
              <a:buFont typeface="+mj-lt"/>
              <a:buAutoNum type="arabicPeriod"/>
            </a:pPr>
            <a:r>
              <a:rPr lang="en-US" sz="1000" dirty="0"/>
              <a:t>Coordinates with application teams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74E06527-2F20-147F-4D13-B23A8DC0C5D8}"/>
              </a:ext>
            </a:extLst>
          </p:cNvPr>
          <p:cNvSpPr/>
          <p:nvPr/>
        </p:nvSpPr>
        <p:spPr>
          <a:xfrm>
            <a:off x="1594992" y="769204"/>
            <a:ext cx="3066525" cy="52286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Layer 1 </a:t>
            </a:r>
          </a:p>
          <a:p>
            <a:pPr algn="ctr"/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Executive Coordination Layer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289054C6-0FFF-3182-B581-826979489007}"/>
              </a:ext>
            </a:extLst>
          </p:cNvPr>
          <p:cNvSpPr/>
          <p:nvPr/>
        </p:nvSpPr>
        <p:spPr>
          <a:xfrm>
            <a:off x="1782408" y="1691012"/>
            <a:ext cx="2691694" cy="52286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Layer 2</a:t>
            </a:r>
          </a:p>
          <a:p>
            <a:pPr algn="ctr"/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Cross-Team Operational Control Layer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27D8020E-B7F4-DBFE-78D6-B3CE1A5EDE3C}"/>
              </a:ext>
            </a:extLst>
          </p:cNvPr>
          <p:cNvSpPr/>
          <p:nvPr/>
        </p:nvSpPr>
        <p:spPr>
          <a:xfrm>
            <a:off x="1334731" y="2632733"/>
            <a:ext cx="3587045" cy="52286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Layer 3</a:t>
            </a:r>
          </a:p>
          <a:p>
            <a:pPr algn="ctr"/>
            <a:r>
              <a:rPr lang="en-US" sz="1100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Infrastructure &amp; System Readiness Layer</a:t>
            </a:r>
          </a:p>
        </p:txBody>
      </p: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22FD00C4-8325-EFFE-3347-CE8E7A4A153C}"/>
              </a:ext>
            </a:extLst>
          </p:cNvPr>
          <p:cNvCxnSpPr>
            <a:cxnSpLocks/>
          </p:cNvCxnSpPr>
          <p:nvPr/>
        </p:nvCxnSpPr>
        <p:spPr>
          <a:xfrm>
            <a:off x="4768421" y="1047583"/>
            <a:ext cx="11835" cy="2007751"/>
          </a:xfrm>
          <a:prstGeom prst="line">
            <a:avLst/>
          </a:prstGeom>
          <a:ln w="12700">
            <a:solidFill>
              <a:schemeClr val="bg2">
                <a:lumMod val="2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62F2DC1D-2E87-C78A-BAD0-5723B6F03EBE}"/>
              </a:ext>
            </a:extLst>
          </p:cNvPr>
          <p:cNvCxnSpPr>
            <a:cxnSpLocks/>
          </p:cNvCxnSpPr>
          <p:nvPr/>
        </p:nvCxnSpPr>
        <p:spPr>
          <a:xfrm>
            <a:off x="-30653" y="3396133"/>
            <a:ext cx="12277500" cy="0"/>
          </a:xfrm>
          <a:prstGeom prst="line">
            <a:avLst/>
          </a:prstGeom>
          <a:ln w="12700">
            <a:solidFill>
              <a:srgbClr val="159F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D494770E-9E25-C51F-944D-99C88A3BBAA8}"/>
              </a:ext>
            </a:extLst>
          </p:cNvPr>
          <p:cNvCxnSpPr>
            <a:cxnSpLocks/>
          </p:cNvCxnSpPr>
          <p:nvPr/>
        </p:nvCxnSpPr>
        <p:spPr>
          <a:xfrm>
            <a:off x="3027281" y="3811631"/>
            <a:ext cx="11835" cy="2007751"/>
          </a:xfrm>
          <a:prstGeom prst="line">
            <a:avLst/>
          </a:prstGeom>
          <a:ln w="12700">
            <a:solidFill>
              <a:schemeClr val="bg2">
                <a:lumMod val="2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1C04074F-94C2-A222-DD3C-8F0ABA26C23E}"/>
              </a:ext>
            </a:extLst>
          </p:cNvPr>
          <p:cNvCxnSpPr>
            <a:cxnSpLocks/>
          </p:cNvCxnSpPr>
          <p:nvPr/>
        </p:nvCxnSpPr>
        <p:spPr>
          <a:xfrm>
            <a:off x="6053818" y="3853966"/>
            <a:ext cx="11835" cy="2007751"/>
          </a:xfrm>
          <a:prstGeom prst="line">
            <a:avLst/>
          </a:prstGeom>
          <a:ln w="12700">
            <a:solidFill>
              <a:schemeClr val="bg2">
                <a:lumMod val="2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3C3CE9DA-FEA4-2663-647A-5BA500BDA2A5}"/>
              </a:ext>
            </a:extLst>
          </p:cNvPr>
          <p:cNvCxnSpPr>
            <a:cxnSpLocks/>
          </p:cNvCxnSpPr>
          <p:nvPr/>
        </p:nvCxnSpPr>
        <p:spPr>
          <a:xfrm>
            <a:off x="9096241" y="3903228"/>
            <a:ext cx="11835" cy="2007751"/>
          </a:xfrm>
          <a:prstGeom prst="line">
            <a:avLst/>
          </a:prstGeom>
          <a:ln w="12700">
            <a:solidFill>
              <a:schemeClr val="bg2">
                <a:lumMod val="2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38B8D730-9D43-7CA9-0FA6-3714F6C9B0C8}"/>
              </a:ext>
            </a:extLst>
          </p:cNvPr>
          <p:cNvCxnSpPr>
            <a:cxnSpLocks/>
          </p:cNvCxnSpPr>
          <p:nvPr/>
        </p:nvCxnSpPr>
        <p:spPr>
          <a:xfrm>
            <a:off x="1651835" y="1047582"/>
            <a:ext cx="11835" cy="2007751"/>
          </a:xfrm>
          <a:prstGeom prst="line">
            <a:avLst/>
          </a:prstGeom>
          <a:ln w="12700">
            <a:solidFill>
              <a:schemeClr val="bg2">
                <a:lumMod val="2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97394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6A97E4B8-C8D5-14A9-8B04-D4EF6528B62A}"/>
              </a:ext>
            </a:extLst>
          </p:cNvPr>
          <p:cNvCxnSpPr>
            <a:cxnSpLocks/>
          </p:cNvCxnSpPr>
          <p:nvPr/>
        </p:nvCxnSpPr>
        <p:spPr>
          <a:xfrm>
            <a:off x="2274250" y="2161785"/>
            <a:ext cx="0" cy="3563966"/>
          </a:xfrm>
          <a:prstGeom prst="line">
            <a:avLst/>
          </a:prstGeom>
          <a:ln w="12700" cmpd="sng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Arrow: Right 53">
            <a:extLst>
              <a:ext uri="{FF2B5EF4-FFF2-40B4-BE49-F238E27FC236}">
                <a16:creationId xmlns:a16="http://schemas.microsoft.com/office/drawing/2014/main" id="{02B22376-C91A-4AAA-223E-8ACECBB109CD}"/>
              </a:ext>
            </a:extLst>
          </p:cNvPr>
          <p:cNvSpPr/>
          <p:nvPr/>
        </p:nvSpPr>
        <p:spPr>
          <a:xfrm rot="5400000">
            <a:off x="-1817214" y="3175382"/>
            <a:ext cx="5449398" cy="1614842"/>
          </a:xfrm>
          <a:prstGeom prst="rightArrow">
            <a:avLst>
              <a:gd name="adj1" fmla="val 63948"/>
              <a:gd name="adj2" fmla="val 49609"/>
            </a:avLst>
          </a:prstGeom>
          <a:gradFill>
            <a:gsLst>
              <a:gs pos="73000">
                <a:srgbClr val="66BFBF"/>
              </a:gs>
              <a:gs pos="100000">
                <a:schemeClr val="bg1"/>
              </a:gs>
              <a:gs pos="0">
                <a:srgbClr val="009688"/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Sequence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C029112-43F3-F59C-4012-EA7CA090219B}"/>
              </a:ext>
            </a:extLst>
          </p:cNvPr>
          <p:cNvSpPr txBox="1"/>
          <p:nvPr/>
        </p:nvSpPr>
        <p:spPr>
          <a:xfrm>
            <a:off x="2812075" y="1856182"/>
            <a:ext cx="170158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Pre-Shutdown</a:t>
            </a:r>
          </a:p>
          <a:p>
            <a:r>
              <a:rPr lang="en-U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Announcement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BF5278F-54B8-3116-548C-CFFC535A9B17}"/>
              </a:ext>
            </a:extLst>
          </p:cNvPr>
          <p:cNvSpPr txBox="1"/>
          <p:nvPr/>
        </p:nvSpPr>
        <p:spPr>
          <a:xfrm>
            <a:off x="5488462" y="1876362"/>
            <a:ext cx="472485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First reminder </a:t>
            </a:r>
            <a:r>
              <a:rPr lang="en-US" sz="1200" dirty="0">
                <a:sym typeface="Wingdings" panose="05000000000000000000" pitchFamily="2" charset="2"/>
              </a:rPr>
              <a:t> In the Morning 10 am (BKK Time Zone) </a:t>
            </a:r>
            <a:endParaRPr lang="en-US" sz="1200" dirty="0"/>
          </a:p>
          <a:p>
            <a:r>
              <a:rPr lang="en-US" sz="1200" dirty="0"/>
              <a:t>Second reminder </a:t>
            </a:r>
            <a:r>
              <a:rPr lang="en-US" sz="1200" dirty="0">
                <a:sym typeface="Wingdings" panose="05000000000000000000" pitchFamily="2" charset="2"/>
              </a:rPr>
              <a:t> In the Afternoon (BKK Time Zone) </a:t>
            </a:r>
            <a:endParaRPr lang="en-US" sz="1200" dirty="0"/>
          </a:p>
          <a:p>
            <a:r>
              <a:rPr lang="en-US" sz="1200" dirty="0"/>
              <a:t>T-1 hour – Final reminder</a:t>
            </a:r>
          </a:p>
          <a:p>
            <a:r>
              <a:rPr lang="en-US" sz="1200" dirty="0"/>
              <a:t>T-15 minutes – Last call before shutdown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E53836E-39E6-F39F-6004-1EBCA2001C71}"/>
              </a:ext>
            </a:extLst>
          </p:cNvPr>
          <p:cNvSpPr txBox="1"/>
          <p:nvPr/>
        </p:nvSpPr>
        <p:spPr>
          <a:xfrm>
            <a:off x="2785671" y="3230625"/>
            <a:ext cx="198713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Official Shutdown Request (Priority-Based Execution)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B997B36-843D-C8A4-56F7-AA4CA5D99B58}"/>
              </a:ext>
            </a:extLst>
          </p:cNvPr>
          <p:cNvSpPr txBox="1"/>
          <p:nvPr/>
        </p:nvSpPr>
        <p:spPr>
          <a:xfrm>
            <a:off x="2749193" y="5553913"/>
            <a:ext cx="233172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Update the Shutdown status for all FI system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80914A5-BB8A-9185-8CBF-E9C11DE794C3}"/>
              </a:ext>
            </a:extLst>
          </p:cNvPr>
          <p:cNvSpPr txBox="1"/>
          <p:nvPr/>
        </p:nvSpPr>
        <p:spPr>
          <a:xfrm>
            <a:off x="2815523" y="4533429"/>
            <a:ext cx="25509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Inform the FI Main Coordinator</a:t>
            </a:r>
          </a:p>
        </p:txBody>
      </p:sp>
      <p:sp>
        <p:nvSpPr>
          <p:cNvPr id="55" name="Flowchart: Preparation 54">
            <a:extLst>
              <a:ext uri="{FF2B5EF4-FFF2-40B4-BE49-F238E27FC236}">
                <a16:creationId xmlns:a16="http://schemas.microsoft.com/office/drawing/2014/main" id="{F2ADA2AA-02D2-57D7-31C3-2EE76118F4AB}"/>
              </a:ext>
            </a:extLst>
          </p:cNvPr>
          <p:cNvSpPr/>
          <p:nvPr/>
        </p:nvSpPr>
        <p:spPr>
          <a:xfrm>
            <a:off x="1946637" y="1963269"/>
            <a:ext cx="655223" cy="477274"/>
          </a:xfrm>
          <a:prstGeom prst="flowChartPreparation">
            <a:avLst/>
          </a:prstGeom>
          <a:solidFill>
            <a:srgbClr val="66BFB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56" name="Flowchart: Preparation 55">
            <a:extLst>
              <a:ext uri="{FF2B5EF4-FFF2-40B4-BE49-F238E27FC236}">
                <a16:creationId xmlns:a16="http://schemas.microsoft.com/office/drawing/2014/main" id="{6D0FD744-1644-ECAE-B328-EEF2A1A63C62}"/>
              </a:ext>
            </a:extLst>
          </p:cNvPr>
          <p:cNvSpPr/>
          <p:nvPr/>
        </p:nvSpPr>
        <p:spPr>
          <a:xfrm>
            <a:off x="1918219" y="3407486"/>
            <a:ext cx="655223" cy="477274"/>
          </a:xfrm>
          <a:prstGeom prst="flowChartPreparation">
            <a:avLst/>
          </a:prstGeom>
          <a:solidFill>
            <a:srgbClr val="66BFB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57" name="Flowchart: Preparation 56">
            <a:extLst>
              <a:ext uri="{FF2B5EF4-FFF2-40B4-BE49-F238E27FC236}">
                <a16:creationId xmlns:a16="http://schemas.microsoft.com/office/drawing/2014/main" id="{2B08E162-B5B1-616B-229C-CF181B0E6981}"/>
              </a:ext>
            </a:extLst>
          </p:cNvPr>
          <p:cNvSpPr/>
          <p:nvPr/>
        </p:nvSpPr>
        <p:spPr>
          <a:xfrm>
            <a:off x="1946638" y="4587180"/>
            <a:ext cx="655223" cy="477274"/>
          </a:xfrm>
          <a:prstGeom prst="flowChartPreparation">
            <a:avLst/>
          </a:prstGeom>
          <a:solidFill>
            <a:srgbClr val="66BFB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58" name="Flowchart: Preparation 57">
            <a:extLst>
              <a:ext uri="{FF2B5EF4-FFF2-40B4-BE49-F238E27FC236}">
                <a16:creationId xmlns:a16="http://schemas.microsoft.com/office/drawing/2014/main" id="{1C3A016F-55EC-ECB6-5D62-7540F3803C76}"/>
              </a:ext>
            </a:extLst>
          </p:cNvPr>
          <p:cNvSpPr/>
          <p:nvPr/>
        </p:nvSpPr>
        <p:spPr>
          <a:xfrm>
            <a:off x="1946637" y="5700006"/>
            <a:ext cx="655223" cy="477274"/>
          </a:xfrm>
          <a:prstGeom prst="flowChartPreparation">
            <a:avLst/>
          </a:prstGeom>
          <a:solidFill>
            <a:srgbClr val="66BFB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9C2CC94-7A90-76C3-FE80-13AE21C08216}"/>
              </a:ext>
            </a:extLst>
          </p:cNvPr>
          <p:cNvSpPr txBox="1"/>
          <p:nvPr/>
        </p:nvSpPr>
        <p:spPr>
          <a:xfrm>
            <a:off x="5387370" y="3128173"/>
            <a:ext cx="335074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Official Shutdown Request – Priority 1 (xx Minute)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8420ED8-12B3-B865-D55B-995A97CBB3AF}"/>
              </a:ext>
            </a:extLst>
          </p:cNvPr>
          <p:cNvSpPr txBox="1"/>
          <p:nvPr/>
        </p:nvSpPr>
        <p:spPr>
          <a:xfrm>
            <a:off x="5367834" y="3476832"/>
            <a:ext cx="335074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Official Shutdown Request – Priority 2 (xx Minute)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3DAF6D1-7348-C507-71F5-4023178BF266}"/>
              </a:ext>
            </a:extLst>
          </p:cNvPr>
          <p:cNvSpPr txBox="1"/>
          <p:nvPr/>
        </p:nvSpPr>
        <p:spPr>
          <a:xfrm>
            <a:off x="5365757" y="3818685"/>
            <a:ext cx="335074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Official Shutdown Request – Priority 3 (xx Minute)</a:t>
            </a:r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78CAB85C-D9A5-7E6F-82F7-6F927B030AA4}"/>
              </a:ext>
            </a:extLst>
          </p:cNvPr>
          <p:cNvCxnSpPr>
            <a:cxnSpLocks/>
          </p:cNvCxnSpPr>
          <p:nvPr/>
        </p:nvCxnSpPr>
        <p:spPr>
          <a:xfrm>
            <a:off x="5284227" y="1685215"/>
            <a:ext cx="0" cy="5022287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1A71626F-9D4F-C185-C12E-49ECB26B0F2D}"/>
              </a:ext>
            </a:extLst>
          </p:cNvPr>
          <p:cNvSpPr txBox="1"/>
          <p:nvPr/>
        </p:nvSpPr>
        <p:spPr>
          <a:xfrm>
            <a:off x="8864522" y="3235882"/>
            <a:ext cx="294584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 dirty="0">
                <a:solidFill>
                  <a:srgbClr val="FF0000"/>
                </a:solidFill>
              </a:rPr>
              <a:t>Escalation Rules</a:t>
            </a:r>
          </a:p>
          <a:p>
            <a:r>
              <a:rPr lang="en-US" sz="1000" dirty="0"/>
              <a:t>1.Escalate to the secondary contact.</a:t>
            </a:r>
          </a:p>
          <a:p>
            <a:r>
              <a:rPr lang="en-US" sz="1000" dirty="0"/>
              <a:t>2.If still no response, escalate to the Manager.</a:t>
            </a:r>
          </a:p>
          <a:p>
            <a:r>
              <a:rPr lang="en-US" sz="1000" dirty="0"/>
              <a:t>3.If still unresolved, escalate to the Director.</a:t>
            </a:r>
          </a:p>
        </p:txBody>
      </p: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689A900D-E96C-D0AD-3C57-787A4FCD9A51}"/>
              </a:ext>
            </a:extLst>
          </p:cNvPr>
          <p:cNvCxnSpPr>
            <a:cxnSpLocks/>
          </p:cNvCxnSpPr>
          <p:nvPr/>
        </p:nvCxnSpPr>
        <p:spPr>
          <a:xfrm>
            <a:off x="5284227" y="2788636"/>
            <a:ext cx="6907773" cy="0"/>
          </a:xfrm>
          <a:prstGeom prst="line">
            <a:avLst/>
          </a:prstGeom>
          <a:ln w="12700" cmpd="sng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3F29E9DF-8AB6-5B78-FF73-494972A61A97}"/>
              </a:ext>
            </a:extLst>
          </p:cNvPr>
          <p:cNvCxnSpPr>
            <a:cxnSpLocks/>
          </p:cNvCxnSpPr>
          <p:nvPr/>
        </p:nvCxnSpPr>
        <p:spPr>
          <a:xfrm flipV="1">
            <a:off x="5284227" y="4431774"/>
            <a:ext cx="6907773" cy="13708"/>
          </a:xfrm>
          <a:prstGeom prst="line">
            <a:avLst/>
          </a:prstGeom>
          <a:ln w="12700" cmpd="sng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AC77C973-BC9C-E0AC-5C03-0CEE54CDA931}"/>
              </a:ext>
            </a:extLst>
          </p:cNvPr>
          <p:cNvCxnSpPr>
            <a:cxnSpLocks/>
          </p:cNvCxnSpPr>
          <p:nvPr/>
        </p:nvCxnSpPr>
        <p:spPr>
          <a:xfrm>
            <a:off x="5284227" y="5546446"/>
            <a:ext cx="6907773" cy="0"/>
          </a:xfrm>
          <a:prstGeom prst="line">
            <a:avLst/>
          </a:prstGeom>
          <a:ln w="12700" cmpd="sng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Title 3">
            <a:extLst>
              <a:ext uri="{FF2B5EF4-FFF2-40B4-BE49-F238E27FC236}">
                <a16:creationId xmlns:a16="http://schemas.microsoft.com/office/drawing/2014/main" id="{91802BEE-0349-DFFE-D006-FA4767CC1B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28" y="20686"/>
            <a:ext cx="9458561" cy="567591"/>
          </a:xfrm>
        </p:spPr>
        <p:txBody>
          <a:bodyPr>
            <a:noAutofit/>
          </a:bodyPr>
          <a:lstStyle/>
          <a:p>
            <a:r>
              <a:rPr lang="en-US" sz="3200" b="1" dirty="0">
                <a:solidFill>
                  <a:srgbClr val="159F93"/>
                </a:solidFill>
              </a:rPr>
              <a:t>Communication Flow for Shutdown MDI Applications</a:t>
            </a:r>
          </a:p>
        </p:txBody>
      </p: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BFF23D9B-B181-E708-8DE4-BC57A6842594}"/>
              </a:ext>
            </a:extLst>
          </p:cNvPr>
          <p:cNvCxnSpPr/>
          <p:nvPr/>
        </p:nvCxnSpPr>
        <p:spPr>
          <a:xfrm>
            <a:off x="-45021" y="625296"/>
            <a:ext cx="7705725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TextBox 113">
            <a:extLst>
              <a:ext uri="{FF2B5EF4-FFF2-40B4-BE49-F238E27FC236}">
                <a16:creationId xmlns:a16="http://schemas.microsoft.com/office/drawing/2014/main" id="{8E8C97B9-D452-C0EE-3966-57CE1665E41E}"/>
              </a:ext>
            </a:extLst>
          </p:cNvPr>
          <p:cNvSpPr txBox="1"/>
          <p:nvPr/>
        </p:nvSpPr>
        <p:spPr>
          <a:xfrm>
            <a:off x="7347673" y="5938643"/>
            <a:ext cx="286564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Shutdown Status Update – All FI Application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4BBC53DE-B785-C65E-D3B1-44E05F23FCBA}"/>
              </a:ext>
            </a:extLst>
          </p:cNvPr>
          <p:cNvSpPr txBox="1"/>
          <p:nvPr/>
        </p:nvSpPr>
        <p:spPr>
          <a:xfrm>
            <a:off x="7482737" y="4865159"/>
            <a:ext cx="220418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Inform the Main Coordinator of FI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82BAA748-BFFB-1846-3288-289A67963671}"/>
              </a:ext>
            </a:extLst>
          </p:cNvPr>
          <p:cNvSpPr txBox="1"/>
          <p:nvPr/>
        </p:nvSpPr>
        <p:spPr>
          <a:xfrm>
            <a:off x="2749193" y="1023986"/>
            <a:ext cx="138224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Steps 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5944546C-A10B-24AE-401E-F105302B71AD}"/>
              </a:ext>
            </a:extLst>
          </p:cNvPr>
          <p:cNvSpPr txBox="1"/>
          <p:nvPr/>
        </p:nvSpPr>
        <p:spPr>
          <a:xfrm>
            <a:off x="7966544" y="1023986"/>
            <a:ext cx="17959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Details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07A11837-7CD3-97E9-95D7-9E23E0B6E67C}"/>
              </a:ext>
            </a:extLst>
          </p:cNvPr>
          <p:cNvSpPr txBox="1"/>
          <p:nvPr/>
        </p:nvSpPr>
        <p:spPr>
          <a:xfrm>
            <a:off x="100485" y="625200"/>
            <a:ext cx="630031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Friday , December 19 , 2025, 07:00 PM – 09:00 PM  - </a:t>
            </a:r>
            <a:r>
              <a:rPr lang="en-US" sz="1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BKG Time Zone UTC +7 </a:t>
            </a:r>
          </a:p>
        </p:txBody>
      </p:sp>
    </p:spTree>
    <p:extLst>
      <p:ext uri="{BB962C8B-B14F-4D97-AF65-F5344CB8AC3E}">
        <p14:creationId xmlns:p14="http://schemas.microsoft.com/office/powerpoint/2010/main" val="15313489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76FBCC-AAEA-BE09-DC61-1355A26DC5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EE53D0C4-07ED-CC23-C180-FA94E4E771AE}"/>
              </a:ext>
            </a:extLst>
          </p:cNvPr>
          <p:cNvCxnSpPr>
            <a:cxnSpLocks/>
          </p:cNvCxnSpPr>
          <p:nvPr/>
        </p:nvCxnSpPr>
        <p:spPr>
          <a:xfrm>
            <a:off x="2274250" y="2161785"/>
            <a:ext cx="0" cy="3563966"/>
          </a:xfrm>
          <a:prstGeom prst="line">
            <a:avLst/>
          </a:prstGeom>
          <a:ln w="12700" cmpd="sng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Arrow: Right 53">
            <a:extLst>
              <a:ext uri="{FF2B5EF4-FFF2-40B4-BE49-F238E27FC236}">
                <a16:creationId xmlns:a16="http://schemas.microsoft.com/office/drawing/2014/main" id="{F68C0160-5165-398A-DB3A-EF97E5D4B57F}"/>
              </a:ext>
            </a:extLst>
          </p:cNvPr>
          <p:cNvSpPr/>
          <p:nvPr/>
        </p:nvSpPr>
        <p:spPr>
          <a:xfrm rot="5400000">
            <a:off x="-1817214" y="3175382"/>
            <a:ext cx="5449398" cy="1614842"/>
          </a:xfrm>
          <a:prstGeom prst="rightArrow">
            <a:avLst>
              <a:gd name="adj1" fmla="val 63948"/>
              <a:gd name="adj2" fmla="val 49609"/>
            </a:avLst>
          </a:prstGeom>
          <a:gradFill>
            <a:gsLst>
              <a:gs pos="73000">
                <a:srgbClr val="66BFBF"/>
              </a:gs>
              <a:gs pos="100000">
                <a:schemeClr val="bg1"/>
              </a:gs>
              <a:gs pos="0">
                <a:srgbClr val="009688"/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Sequence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2E5167C-BF2E-15F0-074B-B2620A673CB4}"/>
              </a:ext>
            </a:extLst>
          </p:cNvPr>
          <p:cNvSpPr txBox="1"/>
          <p:nvPr/>
        </p:nvSpPr>
        <p:spPr>
          <a:xfrm>
            <a:off x="2812075" y="1856182"/>
            <a:ext cx="17599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Pre-Startup</a:t>
            </a:r>
          </a:p>
          <a:p>
            <a:r>
              <a:rPr lang="en-U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Announcement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F305859-92A0-95F5-B2EF-B884F9699B04}"/>
              </a:ext>
            </a:extLst>
          </p:cNvPr>
          <p:cNvSpPr txBox="1"/>
          <p:nvPr/>
        </p:nvSpPr>
        <p:spPr>
          <a:xfrm>
            <a:off x="5487541" y="1878984"/>
            <a:ext cx="540905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First reminder </a:t>
            </a:r>
            <a:r>
              <a:rPr lang="en-US" sz="1200" dirty="0">
                <a:sym typeface="Wingdings" panose="05000000000000000000" pitchFamily="2" charset="2"/>
              </a:rPr>
              <a:t> In the Afternoon (BKK Time Zone) </a:t>
            </a:r>
            <a:r>
              <a:rPr lang="en-US" sz="1200" dirty="0"/>
              <a:t> </a:t>
            </a:r>
          </a:p>
          <a:p>
            <a:r>
              <a:rPr lang="en-US" sz="1200" dirty="0"/>
              <a:t>T-3 hours – Second reminder</a:t>
            </a:r>
          </a:p>
          <a:p>
            <a:r>
              <a:rPr lang="en-US" sz="1200" dirty="0"/>
              <a:t>T-1 hour – Final reminder</a:t>
            </a:r>
            <a:r>
              <a:rPr lang="en-US" sz="1200" dirty="0">
                <a:sym typeface="Wingdings" panose="05000000000000000000" pitchFamily="2" charset="2"/>
              </a:rPr>
              <a:t>  Update the status of IT Activity </a:t>
            </a:r>
            <a:endParaRPr lang="en-US" sz="1200" dirty="0"/>
          </a:p>
          <a:p>
            <a:r>
              <a:rPr lang="en-US" sz="1200" dirty="0"/>
              <a:t>T-15 minutes – Last call before shutdown 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C56A418-CDE2-5327-2973-F6E1F6F1CB0D}"/>
              </a:ext>
            </a:extLst>
          </p:cNvPr>
          <p:cNvSpPr txBox="1"/>
          <p:nvPr/>
        </p:nvSpPr>
        <p:spPr>
          <a:xfrm>
            <a:off x="2812075" y="3166437"/>
            <a:ext cx="198713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Official Startup Request (Priority-Based Execution)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1B45F44-3BBD-63C4-FBB6-02CD3FF50F54}"/>
              </a:ext>
            </a:extLst>
          </p:cNvPr>
          <p:cNvSpPr txBox="1"/>
          <p:nvPr/>
        </p:nvSpPr>
        <p:spPr>
          <a:xfrm>
            <a:off x="2749193" y="5553913"/>
            <a:ext cx="233172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Update the Startup status for all FI system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C7F2829-5E77-7990-7729-D1B462AC1294}"/>
              </a:ext>
            </a:extLst>
          </p:cNvPr>
          <p:cNvSpPr txBox="1"/>
          <p:nvPr/>
        </p:nvSpPr>
        <p:spPr>
          <a:xfrm>
            <a:off x="2815524" y="4533429"/>
            <a:ext cx="190935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Inform the Main Coordinator of FI</a:t>
            </a:r>
          </a:p>
        </p:txBody>
      </p:sp>
      <p:sp>
        <p:nvSpPr>
          <p:cNvPr id="55" name="Flowchart: Preparation 54">
            <a:extLst>
              <a:ext uri="{FF2B5EF4-FFF2-40B4-BE49-F238E27FC236}">
                <a16:creationId xmlns:a16="http://schemas.microsoft.com/office/drawing/2014/main" id="{2A92BFDB-A872-BBC0-7634-7F25A0548B82}"/>
              </a:ext>
            </a:extLst>
          </p:cNvPr>
          <p:cNvSpPr/>
          <p:nvPr/>
        </p:nvSpPr>
        <p:spPr>
          <a:xfrm>
            <a:off x="1968839" y="1973371"/>
            <a:ext cx="655223" cy="477274"/>
          </a:xfrm>
          <a:prstGeom prst="flowChartPreparation">
            <a:avLst/>
          </a:prstGeom>
          <a:solidFill>
            <a:srgbClr val="66BFB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56" name="Flowchart: Preparation 55">
            <a:extLst>
              <a:ext uri="{FF2B5EF4-FFF2-40B4-BE49-F238E27FC236}">
                <a16:creationId xmlns:a16="http://schemas.microsoft.com/office/drawing/2014/main" id="{F94D1F35-0DA2-08E6-D663-4F30437CE96D}"/>
              </a:ext>
            </a:extLst>
          </p:cNvPr>
          <p:cNvSpPr/>
          <p:nvPr/>
        </p:nvSpPr>
        <p:spPr>
          <a:xfrm>
            <a:off x="1968839" y="3313625"/>
            <a:ext cx="655223" cy="477274"/>
          </a:xfrm>
          <a:prstGeom prst="flowChartPreparation">
            <a:avLst/>
          </a:prstGeom>
          <a:solidFill>
            <a:srgbClr val="66BFB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57" name="Flowchart: Preparation 56">
            <a:extLst>
              <a:ext uri="{FF2B5EF4-FFF2-40B4-BE49-F238E27FC236}">
                <a16:creationId xmlns:a16="http://schemas.microsoft.com/office/drawing/2014/main" id="{FDC5FBA8-B2C6-CFE5-E398-A24F84D1C6D3}"/>
              </a:ext>
            </a:extLst>
          </p:cNvPr>
          <p:cNvSpPr/>
          <p:nvPr/>
        </p:nvSpPr>
        <p:spPr>
          <a:xfrm>
            <a:off x="1946638" y="4587180"/>
            <a:ext cx="655223" cy="477274"/>
          </a:xfrm>
          <a:prstGeom prst="flowChartPreparation">
            <a:avLst/>
          </a:prstGeom>
          <a:solidFill>
            <a:srgbClr val="66BFB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58" name="Flowchart: Preparation 57">
            <a:extLst>
              <a:ext uri="{FF2B5EF4-FFF2-40B4-BE49-F238E27FC236}">
                <a16:creationId xmlns:a16="http://schemas.microsoft.com/office/drawing/2014/main" id="{06D6029E-3C58-43CA-1DB1-E356CFF0AECE}"/>
              </a:ext>
            </a:extLst>
          </p:cNvPr>
          <p:cNvSpPr/>
          <p:nvPr/>
        </p:nvSpPr>
        <p:spPr>
          <a:xfrm>
            <a:off x="1946637" y="5700006"/>
            <a:ext cx="655223" cy="477274"/>
          </a:xfrm>
          <a:prstGeom prst="flowChartPreparation">
            <a:avLst/>
          </a:prstGeom>
          <a:solidFill>
            <a:srgbClr val="66BFB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5FE593A-8F77-9349-6672-BAD1150DC8D3}"/>
              </a:ext>
            </a:extLst>
          </p:cNvPr>
          <p:cNvSpPr txBox="1"/>
          <p:nvPr/>
        </p:nvSpPr>
        <p:spPr>
          <a:xfrm>
            <a:off x="5487541" y="3147800"/>
            <a:ext cx="335074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Official Startup Request – Priority 1 (xx Minute)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DAF43FF-BE44-AFDE-EC2B-4AF80FB201F4}"/>
              </a:ext>
            </a:extLst>
          </p:cNvPr>
          <p:cNvSpPr txBox="1"/>
          <p:nvPr/>
        </p:nvSpPr>
        <p:spPr>
          <a:xfrm>
            <a:off x="5487542" y="3476832"/>
            <a:ext cx="335074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Official Startup Request – Priority 2 (xx Minute)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B557B5A-9C2D-9047-DE1B-3B611479005F}"/>
              </a:ext>
            </a:extLst>
          </p:cNvPr>
          <p:cNvSpPr txBox="1"/>
          <p:nvPr/>
        </p:nvSpPr>
        <p:spPr>
          <a:xfrm>
            <a:off x="5487542" y="3811000"/>
            <a:ext cx="335074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Official Startup Request – Priority 3 (xx Minute)</a:t>
            </a:r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A45D0F88-B2F7-31A9-D641-074BA6B55B58}"/>
              </a:ext>
            </a:extLst>
          </p:cNvPr>
          <p:cNvCxnSpPr>
            <a:cxnSpLocks/>
          </p:cNvCxnSpPr>
          <p:nvPr/>
        </p:nvCxnSpPr>
        <p:spPr>
          <a:xfrm>
            <a:off x="5284227" y="1685215"/>
            <a:ext cx="0" cy="5022287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8C8A4424-0F06-7CA2-AAFF-07BD57A188EF}"/>
              </a:ext>
            </a:extLst>
          </p:cNvPr>
          <p:cNvSpPr txBox="1"/>
          <p:nvPr/>
        </p:nvSpPr>
        <p:spPr>
          <a:xfrm>
            <a:off x="9016500" y="3239430"/>
            <a:ext cx="294584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Escalation Rules</a:t>
            </a:r>
          </a:p>
          <a:p>
            <a:r>
              <a:rPr lang="en-US" sz="1000" dirty="0"/>
              <a:t>1.Escalate to the secondary contact.</a:t>
            </a:r>
          </a:p>
          <a:p>
            <a:r>
              <a:rPr lang="en-US" sz="1000" dirty="0"/>
              <a:t>2.If still no response, escalate to the Manager.</a:t>
            </a:r>
          </a:p>
          <a:p>
            <a:r>
              <a:rPr lang="en-US" sz="1000" dirty="0"/>
              <a:t>3.If still unresolved, escalate to the Director.</a:t>
            </a:r>
          </a:p>
        </p:txBody>
      </p: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7446660C-0D10-0A5D-97C0-C1FCE33AEE6F}"/>
              </a:ext>
            </a:extLst>
          </p:cNvPr>
          <p:cNvCxnSpPr>
            <a:cxnSpLocks/>
          </p:cNvCxnSpPr>
          <p:nvPr/>
        </p:nvCxnSpPr>
        <p:spPr>
          <a:xfrm>
            <a:off x="5284227" y="2788636"/>
            <a:ext cx="6907773" cy="0"/>
          </a:xfrm>
          <a:prstGeom prst="line">
            <a:avLst/>
          </a:prstGeom>
          <a:ln w="12700" cmpd="sng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61609F39-FDDF-3C6D-07D6-AB55934709F7}"/>
              </a:ext>
            </a:extLst>
          </p:cNvPr>
          <p:cNvCxnSpPr>
            <a:cxnSpLocks/>
          </p:cNvCxnSpPr>
          <p:nvPr/>
        </p:nvCxnSpPr>
        <p:spPr>
          <a:xfrm flipV="1">
            <a:off x="5284227" y="4431774"/>
            <a:ext cx="6907773" cy="13708"/>
          </a:xfrm>
          <a:prstGeom prst="line">
            <a:avLst/>
          </a:prstGeom>
          <a:ln w="12700" cmpd="sng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EF45A1D6-A0DC-3974-EB68-5011106B9579}"/>
              </a:ext>
            </a:extLst>
          </p:cNvPr>
          <p:cNvCxnSpPr>
            <a:cxnSpLocks/>
          </p:cNvCxnSpPr>
          <p:nvPr/>
        </p:nvCxnSpPr>
        <p:spPr>
          <a:xfrm>
            <a:off x="5284227" y="5336058"/>
            <a:ext cx="6907773" cy="0"/>
          </a:xfrm>
          <a:prstGeom prst="line">
            <a:avLst/>
          </a:prstGeom>
          <a:ln w="12700" cmpd="sng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Title 3">
            <a:extLst>
              <a:ext uri="{FF2B5EF4-FFF2-40B4-BE49-F238E27FC236}">
                <a16:creationId xmlns:a16="http://schemas.microsoft.com/office/drawing/2014/main" id="{ED0F861F-7ABD-8861-2686-504FB912B7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51" y="23084"/>
            <a:ext cx="8953049" cy="567591"/>
          </a:xfrm>
        </p:spPr>
        <p:txBody>
          <a:bodyPr>
            <a:noAutofit/>
          </a:bodyPr>
          <a:lstStyle/>
          <a:p>
            <a:r>
              <a:rPr lang="en-US" sz="3200" b="1" dirty="0">
                <a:solidFill>
                  <a:srgbClr val="159F93"/>
                </a:solidFill>
              </a:rPr>
              <a:t>Communication Flow for Startup MDI Applications</a:t>
            </a:r>
          </a:p>
        </p:txBody>
      </p: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EBE9121D-1970-1502-4637-B9FD0D73CD81}"/>
              </a:ext>
            </a:extLst>
          </p:cNvPr>
          <p:cNvCxnSpPr/>
          <p:nvPr/>
        </p:nvCxnSpPr>
        <p:spPr>
          <a:xfrm>
            <a:off x="-25098" y="627694"/>
            <a:ext cx="7705725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TextBox 113">
            <a:extLst>
              <a:ext uri="{FF2B5EF4-FFF2-40B4-BE49-F238E27FC236}">
                <a16:creationId xmlns:a16="http://schemas.microsoft.com/office/drawing/2014/main" id="{D35D3FDE-04A4-81BC-D38D-9AF771AA2555}"/>
              </a:ext>
            </a:extLst>
          </p:cNvPr>
          <p:cNvSpPr txBox="1"/>
          <p:nvPr/>
        </p:nvSpPr>
        <p:spPr>
          <a:xfrm>
            <a:off x="6781156" y="5626527"/>
            <a:ext cx="44583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Startup Status Update – All FI Application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8F02EB92-C173-8C25-906F-DF5D745EEA0F}"/>
              </a:ext>
            </a:extLst>
          </p:cNvPr>
          <p:cNvSpPr txBox="1"/>
          <p:nvPr/>
        </p:nvSpPr>
        <p:spPr>
          <a:xfrm>
            <a:off x="7041129" y="4663336"/>
            <a:ext cx="34482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Inform the Main Coordinator of FI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1AC335-75BE-0696-4594-19F248BBE7DB}"/>
              </a:ext>
            </a:extLst>
          </p:cNvPr>
          <p:cNvSpPr txBox="1"/>
          <p:nvPr/>
        </p:nvSpPr>
        <p:spPr>
          <a:xfrm>
            <a:off x="2812075" y="1005696"/>
            <a:ext cx="138224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Steps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CC1E8A-1714-4193-3436-5E8D4D719624}"/>
              </a:ext>
            </a:extLst>
          </p:cNvPr>
          <p:cNvSpPr txBox="1"/>
          <p:nvPr/>
        </p:nvSpPr>
        <p:spPr>
          <a:xfrm>
            <a:off x="8029426" y="1005696"/>
            <a:ext cx="17959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Details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CBF80F-C01D-7C59-01CB-47B79212D32B}"/>
              </a:ext>
            </a:extLst>
          </p:cNvPr>
          <p:cNvSpPr txBox="1"/>
          <p:nvPr/>
        </p:nvSpPr>
        <p:spPr>
          <a:xfrm>
            <a:off x="100486" y="625200"/>
            <a:ext cx="654796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Sunday , December 21, 2025, 02:00 PM – 06: 00 PM  - </a:t>
            </a:r>
            <a:r>
              <a:rPr lang="en-US" sz="1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BKG Time Zone UTC +7 </a:t>
            </a:r>
          </a:p>
        </p:txBody>
      </p:sp>
    </p:spTree>
    <p:extLst>
      <p:ext uri="{BB962C8B-B14F-4D97-AF65-F5344CB8AC3E}">
        <p14:creationId xmlns:p14="http://schemas.microsoft.com/office/powerpoint/2010/main" val="4061741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AF5D67-021F-26D1-DB63-4640C375A5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74C5BCCA-031B-15D0-2B78-829F430D10AC}"/>
              </a:ext>
            </a:extLst>
          </p:cNvPr>
          <p:cNvCxnSpPr>
            <a:cxnSpLocks/>
          </p:cNvCxnSpPr>
          <p:nvPr/>
        </p:nvCxnSpPr>
        <p:spPr>
          <a:xfrm>
            <a:off x="2274250" y="2161785"/>
            <a:ext cx="0" cy="3563966"/>
          </a:xfrm>
          <a:prstGeom prst="line">
            <a:avLst/>
          </a:prstGeom>
          <a:ln w="12700" cmpd="sng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Arrow: Right 53">
            <a:extLst>
              <a:ext uri="{FF2B5EF4-FFF2-40B4-BE49-F238E27FC236}">
                <a16:creationId xmlns:a16="http://schemas.microsoft.com/office/drawing/2014/main" id="{8951766D-58F8-F049-29AC-129A5745992B}"/>
              </a:ext>
            </a:extLst>
          </p:cNvPr>
          <p:cNvSpPr/>
          <p:nvPr/>
        </p:nvSpPr>
        <p:spPr>
          <a:xfrm rot="5400000">
            <a:off x="-1817214" y="3175382"/>
            <a:ext cx="5449398" cy="1614842"/>
          </a:xfrm>
          <a:prstGeom prst="rightArrow">
            <a:avLst>
              <a:gd name="adj1" fmla="val 63948"/>
              <a:gd name="adj2" fmla="val 49609"/>
            </a:avLst>
          </a:prstGeom>
          <a:gradFill>
            <a:gsLst>
              <a:gs pos="73000">
                <a:srgbClr val="66BFBF"/>
              </a:gs>
              <a:gs pos="100000">
                <a:schemeClr val="bg1"/>
              </a:gs>
              <a:gs pos="0">
                <a:srgbClr val="009688"/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Sequence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A605213-5ABA-F794-CDEC-CF3D737F37B7}"/>
              </a:ext>
            </a:extLst>
          </p:cNvPr>
          <p:cNvSpPr txBox="1"/>
          <p:nvPr/>
        </p:nvSpPr>
        <p:spPr>
          <a:xfrm>
            <a:off x="2877995" y="1916957"/>
            <a:ext cx="17599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Pre-Startup</a:t>
            </a:r>
          </a:p>
          <a:p>
            <a:r>
              <a:rPr lang="en-U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Announcement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07F5252-1F27-3287-E225-775FFD8E6EAC}"/>
              </a:ext>
            </a:extLst>
          </p:cNvPr>
          <p:cNvSpPr txBox="1"/>
          <p:nvPr/>
        </p:nvSpPr>
        <p:spPr>
          <a:xfrm>
            <a:off x="5436792" y="1925381"/>
            <a:ext cx="540905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First reminder </a:t>
            </a:r>
            <a:r>
              <a:rPr lang="en-US" sz="1200" dirty="0">
                <a:sym typeface="Wingdings" panose="05000000000000000000" pitchFamily="2" charset="2"/>
              </a:rPr>
              <a:t> In the Morning (BKK Time Zone) </a:t>
            </a:r>
            <a:r>
              <a:rPr lang="en-US" sz="1200" dirty="0"/>
              <a:t> </a:t>
            </a:r>
          </a:p>
          <a:p>
            <a:r>
              <a:rPr lang="en-US" sz="1200" dirty="0"/>
              <a:t>T-15 minutes – Last call before shutdown </a:t>
            </a:r>
            <a:r>
              <a:rPr lang="en-US" sz="1200" dirty="0">
                <a:sym typeface="Wingdings" panose="05000000000000000000" pitchFamily="2" charset="2"/>
              </a:rPr>
              <a:t> With the detail of first lot</a:t>
            </a:r>
            <a:endParaRPr lang="en-US" sz="1200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7B51519-2B95-5555-3548-3A6007520E4F}"/>
              </a:ext>
            </a:extLst>
          </p:cNvPr>
          <p:cNvSpPr txBox="1"/>
          <p:nvPr/>
        </p:nvSpPr>
        <p:spPr>
          <a:xfrm>
            <a:off x="2819726" y="3261429"/>
            <a:ext cx="226883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Official Post-Monitoring Request 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957D037-BA97-71CA-F6BE-01747F544F2F}"/>
              </a:ext>
            </a:extLst>
          </p:cNvPr>
          <p:cNvSpPr txBox="1"/>
          <p:nvPr/>
        </p:nvSpPr>
        <p:spPr>
          <a:xfrm>
            <a:off x="2749193" y="5553913"/>
            <a:ext cx="233172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Update the Post-Monitoring status for all FI system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AA6796B-8482-7783-D4D6-82D521379472}"/>
              </a:ext>
            </a:extLst>
          </p:cNvPr>
          <p:cNvSpPr txBox="1"/>
          <p:nvPr/>
        </p:nvSpPr>
        <p:spPr>
          <a:xfrm>
            <a:off x="2815524" y="4533429"/>
            <a:ext cx="190935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Inform the Main Coordinator of FI</a:t>
            </a:r>
          </a:p>
        </p:txBody>
      </p:sp>
      <p:sp>
        <p:nvSpPr>
          <p:cNvPr id="55" name="Flowchart: Preparation 54">
            <a:extLst>
              <a:ext uri="{FF2B5EF4-FFF2-40B4-BE49-F238E27FC236}">
                <a16:creationId xmlns:a16="http://schemas.microsoft.com/office/drawing/2014/main" id="{EA184F30-71B6-C12D-01B6-26E8EF5C1998}"/>
              </a:ext>
            </a:extLst>
          </p:cNvPr>
          <p:cNvSpPr/>
          <p:nvPr/>
        </p:nvSpPr>
        <p:spPr>
          <a:xfrm>
            <a:off x="1968839" y="1973371"/>
            <a:ext cx="655223" cy="477274"/>
          </a:xfrm>
          <a:prstGeom prst="flowChartPreparation">
            <a:avLst/>
          </a:prstGeom>
          <a:solidFill>
            <a:srgbClr val="66BFB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56" name="Flowchart: Preparation 55">
            <a:extLst>
              <a:ext uri="{FF2B5EF4-FFF2-40B4-BE49-F238E27FC236}">
                <a16:creationId xmlns:a16="http://schemas.microsoft.com/office/drawing/2014/main" id="{3FCBE937-3D8D-3F19-05B5-13B70CC131A1}"/>
              </a:ext>
            </a:extLst>
          </p:cNvPr>
          <p:cNvSpPr/>
          <p:nvPr/>
        </p:nvSpPr>
        <p:spPr>
          <a:xfrm>
            <a:off x="1968839" y="3313625"/>
            <a:ext cx="655223" cy="477274"/>
          </a:xfrm>
          <a:prstGeom prst="flowChartPreparation">
            <a:avLst/>
          </a:prstGeom>
          <a:solidFill>
            <a:srgbClr val="66BFB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57" name="Flowchart: Preparation 56">
            <a:extLst>
              <a:ext uri="{FF2B5EF4-FFF2-40B4-BE49-F238E27FC236}">
                <a16:creationId xmlns:a16="http://schemas.microsoft.com/office/drawing/2014/main" id="{C4F672AA-5171-083E-5A62-5D7E67CA8EEC}"/>
              </a:ext>
            </a:extLst>
          </p:cNvPr>
          <p:cNvSpPr/>
          <p:nvPr/>
        </p:nvSpPr>
        <p:spPr>
          <a:xfrm>
            <a:off x="1946638" y="4587180"/>
            <a:ext cx="655223" cy="477274"/>
          </a:xfrm>
          <a:prstGeom prst="flowChartPreparation">
            <a:avLst/>
          </a:prstGeom>
          <a:solidFill>
            <a:srgbClr val="66BFB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58" name="Flowchart: Preparation 57">
            <a:extLst>
              <a:ext uri="{FF2B5EF4-FFF2-40B4-BE49-F238E27FC236}">
                <a16:creationId xmlns:a16="http://schemas.microsoft.com/office/drawing/2014/main" id="{BD9814F2-6328-4AC6-92D7-DB88960A154F}"/>
              </a:ext>
            </a:extLst>
          </p:cNvPr>
          <p:cNvSpPr/>
          <p:nvPr/>
        </p:nvSpPr>
        <p:spPr>
          <a:xfrm>
            <a:off x="1946637" y="5700006"/>
            <a:ext cx="655223" cy="477274"/>
          </a:xfrm>
          <a:prstGeom prst="flowChartPreparation">
            <a:avLst/>
          </a:prstGeom>
          <a:solidFill>
            <a:srgbClr val="66BFB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4</a:t>
            </a:r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D7DBBCC1-29AB-6AF2-08CB-7251F4DAE025}"/>
              </a:ext>
            </a:extLst>
          </p:cNvPr>
          <p:cNvCxnSpPr>
            <a:cxnSpLocks/>
          </p:cNvCxnSpPr>
          <p:nvPr/>
        </p:nvCxnSpPr>
        <p:spPr>
          <a:xfrm>
            <a:off x="5284227" y="1685215"/>
            <a:ext cx="0" cy="5022287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87CCBB3B-BA60-4DE9-B14A-2AB199B915DB}"/>
              </a:ext>
            </a:extLst>
          </p:cNvPr>
          <p:cNvSpPr txBox="1"/>
          <p:nvPr/>
        </p:nvSpPr>
        <p:spPr>
          <a:xfrm>
            <a:off x="5487541" y="2458551"/>
            <a:ext cx="294584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Escalation Rules</a:t>
            </a:r>
          </a:p>
          <a:p>
            <a:r>
              <a:rPr lang="en-US" sz="1000" dirty="0"/>
              <a:t>1.Escalate to the secondary contact.</a:t>
            </a:r>
          </a:p>
          <a:p>
            <a:r>
              <a:rPr lang="en-US" sz="1000" dirty="0"/>
              <a:t>2.If still no response, escalate to the Manager.</a:t>
            </a:r>
          </a:p>
          <a:p>
            <a:r>
              <a:rPr lang="en-US" sz="1000" dirty="0"/>
              <a:t>3.If still unresolved, escalate to the Director.</a:t>
            </a:r>
          </a:p>
        </p:txBody>
      </p:sp>
      <p:sp>
        <p:nvSpPr>
          <p:cNvPr id="99" name="Title 3">
            <a:extLst>
              <a:ext uri="{FF2B5EF4-FFF2-40B4-BE49-F238E27FC236}">
                <a16:creationId xmlns:a16="http://schemas.microsoft.com/office/drawing/2014/main" id="{D0DE41F7-F761-E146-1876-DA3ABE4401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51" y="23084"/>
            <a:ext cx="11109374" cy="567591"/>
          </a:xfrm>
        </p:spPr>
        <p:txBody>
          <a:bodyPr>
            <a:noAutofit/>
          </a:bodyPr>
          <a:lstStyle/>
          <a:p>
            <a:r>
              <a:rPr lang="en-US" sz="3200" b="1" dirty="0">
                <a:solidFill>
                  <a:srgbClr val="159F93"/>
                </a:solidFill>
              </a:rPr>
              <a:t>Communication Flow for Post-Monitoring MDI Applications</a:t>
            </a:r>
          </a:p>
        </p:txBody>
      </p: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3E49A679-882E-D3A8-7B30-4D45EB9781E1}"/>
              </a:ext>
            </a:extLst>
          </p:cNvPr>
          <p:cNvCxnSpPr/>
          <p:nvPr/>
        </p:nvCxnSpPr>
        <p:spPr>
          <a:xfrm>
            <a:off x="-25098" y="627694"/>
            <a:ext cx="7705725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B3F3B1F6-8A27-CFF3-4618-611E46C0D121}"/>
              </a:ext>
            </a:extLst>
          </p:cNvPr>
          <p:cNvSpPr txBox="1"/>
          <p:nvPr/>
        </p:nvSpPr>
        <p:spPr>
          <a:xfrm>
            <a:off x="2812075" y="1005696"/>
            <a:ext cx="138224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Steps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E3ADA8-DDE0-2AB0-3D4C-132AB655CE77}"/>
              </a:ext>
            </a:extLst>
          </p:cNvPr>
          <p:cNvSpPr txBox="1"/>
          <p:nvPr/>
        </p:nvSpPr>
        <p:spPr>
          <a:xfrm>
            <a:off x="8029426" y="1005696"/>
            <a:ext cx="17959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Details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FCB8A4-3B38-48AE-F0A2-ED2AFD1B5A87}"/>
              </a:ext>
            </a:extLst>
          </p:cNvPr>
          <p:cNvSpPr txBox="1"/>
          <p:nvPr/>
        </p:nvSpPr>
        <p:spPr>
          <a:xfrm>
            <a:off x="100485" y="625200"/>
            <a:ext cx="648128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Monday , December 22, 2025, From 6:00 AM onwards - </a:t>
            </a:r>
            <a:r>
              <a:rPr lang="en-US" sz="1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BKG Time Zone UTC +7 </a:t>
            </a:r>
          </a:p>
        </p:txBody>
      </p:sp>
    </p:spTree>
    <p:extLst>
      <p:ext uri="{BB962C8B-B14F-4D97-AF65-F5344CB8AC3E}">
        <p14:creationId xmlns:p14="http://schemas.microsoft.com/office/powerpoint/2010/main" val="7303866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811BD9-904F-7DA8-C6B7-5F852C5CE8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Title 3">
            <a:extLst>
              <a:ext uri="{FF2B5EF4-FFF2-40B4-BE49-F238E27FC236}">
                <a16:creationId xmlns:a16="http://schemas.microsoft.com/office/drawing/2014/main" id="{DF8DDC1C-031E-3BDE-1031-6077CDDF43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51" y="23084"/>
            <a:ext cx="9928274" cy="567591"/>
          </a:xfrm>
        </p:spPr>
        <p:txBody>
          <a:bodyPr>
            <a:noAutofit/>
          </a:bodyPr>
          <a:lstStyle/>
          <a:p>
            <a:r>
              <a:rPr lang="en-US" sz="2400" b="1" dirty="0">
                <a:solidFill>
                  <a:srgbClr val="159F93"/>
                </a:solidFill>
              </a:rPr>
              <a:t>WT Integration Verification  [</a:t>
            </a:r>
            <a:r>
              <a:rPr lang="en-US" sz="2400" b="1" dirty="0" err="1">
                <a:solidFill>
                  <a:srgbClr val="159F93"/>
                </a:solidFill>
              </a:rPr>
              <a:t>WThost</a:t>
            </a:r>
            <a:r>
              <a:rPr lang="en-US" sz="2400" b="1" dirty="0">
                <a:solidFill>
                  <a:srgbClr val="159F93"/>
                </a:solidFill>
              </a:rPr>
              <a:t> – EBS41 – EBS42 ]</a:t>
            </a:r>
          </a:p>
        </p:txBody>
      </p: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A72B9CD9-CFF7-64BD-1657-2E5FDF082626}"/>
              </a:ext>
            </a:extLst>
          </p:cNvPr>
          <p:cNvCxnSpPr/>
          <p:nvPr/>
        </p:nvCxnSpPr>
        <p:spPr>
          <a:xfrm>
            <a:off x="-25098" y="627694"/>
            <a:ext cx="7705725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15131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21BAA-592F-8D61-A514-55469F06E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195E9D-2D69-40DC-0E55-F806D831A6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3721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</TotalTime>
  <Words>811</Words>
  <Application>Microsoft Office PowerPoint</Application>
  <PresentationFormat>Widescreen</PresentationFormat>
  <Paragraphs>140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Wingdings</vt:lpstr>
      <vt:lpstr>Office Theme</vt:lpstr>
      <vt:lpstr>FMEA </vt:lpstr>
      <vt:lpstr>Overall Communication Flow (Webex base)</vt:lpstr>
      <vt:lpstr>Communication Flow for Shutdown MDI Applications</vt:lpstr>
      <vt:lpstr>Communication Flow for Startup MDI Applications</vt:lpstr>
      <vt:lpstr>Communication Flow for Post-Monitoring MDI Applications</vt:lpstr>
      <vt:lpstr>WT Integration Verification  [WThost – EBS41 – EBS42 ]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Aphiwat Deelorm</dc:creator>
  <cp:lastModifiedBy>Aphiwat Deelorm</cp:lastModifiedBy>
  <cp:revision>1</cp:revision>
  <dcterms:created xsi:type="dcterms:W3CDTF">2025-12-10T14:23:52Z</dcterms:created>
  <dcterms:modified xsi:type="dcterms:W3CDTF">2025-12-10T17:34:24Z</dcterms:modified>
</cp:coreProperties>
</file>