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478"/>
    <a:srgbClr val="07998C"/>
    <a:srgbClr val="62BDBD"/>
    <a:srgbClr val="D6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hiwat Deelorm" userId="aa3a58ede5475c9d" providerId="LiveId" clId="{BB8B78E4-E53B-4C66-9E2B-06B883F42AD5}"/>
    <pc:docChg chg="undo custSel modSld">
      <pc:chgData name="Aphiwat Deelorm" userId="aa3a58ede5475c9d" providerId="LiveId" clId="{BB8B78E4-E53B-4C66-9E2B-06B883F42AD5}" dt="2025-11-19T15:58:47.046" v="85" actId="207"/>
      <pc:docMkLst>
        <pc:docMk/>
      </pc:docMkLst>
      <pc:sldChg chg="modSp mod">
        <pc:chgData name="Aphiwat Deelorm" userId="aa3a58ede5475c9d" providerId="LiveId" clId="{BB8B78E4-E53B-4C66-9E2B-06B883F42AD5}" dt="2025-11-19T15:58:47.046" v="85" actId="207"/>
        <pc:sldMkLst>
          <pc:docMk/>
          <pc:sldMk cId="2623143348" sldId="259"/>
        </pc:sldMkLst>
        <pc:spChg chg="mod">
          <ac:chgData name="Aphiwat Deelorm" userId="aa3a58ede5475c9d" providerId="LiveId" clId="{BB8B78E4-E53B-4C66-9E2B-06B883F42AD5}" dt="2025-11-19T15:58:47.046" v="85" actId="207"/>
          <ac:spMkLst>
            <pc:docMk/>
            <pc:sldMk cId="2623143348" sldId="259"/>
            <ac:spMk id="9" creationId="{87B3C073-B046-AB7D-6780-ADF705B3B8B6}"/>
          </ac:spMkLst>
        </pc:spChg>
        <pc:spChg chg="mod">
          <ac:chgData name="Aphiwat Deelorm" userId="aa3a58ede5475c9d" providerId="LiveId" clId="{BB8B78E4-E53B-4C66-9E2B-06B883F42AD5}" dt="2025-11-19T15:57:49.695" v="8" actId="207"/>
          <ac:spMkLst>
            <pc:docMk/>
            <pc:sldMk cId="2623143348" sldId="259"/>
            <ac:spMk id="17" creationId="{9FA8A1CE-742E-D8A5-8EF2-A45CE22F34B1}"/>
          </ac:spMkLst>
        </pc:spChg>
        <pc:spChg chg="mod">
          <ac:chgData name="Aphiwat Deelorm" userId="aa3a58ede5475c9d" providerId="LiveId" clId="{BB8B78E4-E53B-4C66-9E2B-06B883F42AD5}" dt="2025-11-19T15:57:24.358" v="3" actId="207"/>
          <ac:spMkLst>
            <pc:docMk/>
            <pc:sldMk cId="2623143348" sldId="259"/>
            <ac:spMk id="18" creationId="{E97F095A-57C7-32F3-E3C6-9C024752C993}"/>
          </ac:spMkLst>
        </pc:spChg>
        <pc:spChg chg="mod">
          <ac:chgData name="Aphiwat Deelorm" userId="aa3a58ede5475c9d" providerId="LiveId" clId="{BB8B78E4-E53B-4C66-9E2B-06B883F42AD5}" dt="2025-11-19T15:57:45.610" v="5" actId="207"/>
          <ac:spMkLst>
            <pc:docMk/>
            <pc:sldMk cId="2623143348" sldId="259"/>
            <ac:spMk id="19" creationId="{F2FE90CE-A6A2-344C-FD64-AC0EA84FDD94}"/>
          </ac:spMkLst>
        </pc:spChg>
        <pc:spChg chg="mod">
          <ac:chgData name="Aphiwat Deelorm" userId="aa3a58ede5475c9d" providerId="LiveId" clId="{BB8B78E4-E53B-4C66-9E2B-06B883F42AD5}" dt="2025-11-19T15:57:41.539" v="4" actId="207"/>
          <ac:spMkLst>
            <pc:docMk/>
            <pc:sldMk cId="2623143348" sldId="259"/>
            <ac:spMk id="20" creationId="{647A5FE8-709E-6238-C55C-04538D83003D}"/>
          </ac:spMkLst>
        </pc:spChg>
        <pc:spChg chg="mod">
          <ac:chgData name="Aphiwat Deelorm" userId="aa3a58ede5475c9d" providerId="LiveId" clId="{BB8B78E4-E53B-4C66-9E2B-06B883F42AD5}" dt="2025-11-19T15:58:22.510" v="10" actId="1076"/>
          <ac:spMkLst>
            <pc:docMk/>
            <pc:sldMk cId="2623143348" sldId="259"/>
            <ac:spMk id="21" creationId="{639468A9-11E4-4A56-6EC5-F813044164F2}"/>
          </ac:spMkLst>
        </pc:spChg>
        <pc:spChg chg="mod">
          <ac:chgData name="Aphiwat Deelorm" userId="aa3a58ede5475c9d" providerId="LiveId" clId="{BB8B78E4-E53B-4C66-9E2B-06B883F42AD5}" dt="2025-11-19T15:58:09.411" v="9" actId="1076"/>
          <ac:spMkLst>
            <pc:docMk/>
            <pc:sldMk cId="2623143348" sldId="259"/>
            <ac:spMk id="66" creationId="{55CBB22F-4481-826D-01B6-D0523901D3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4B51-A89D-AD58-4E50-5D63C574F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CCD09-1874-8EC5-BF61-B146A3E83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A47F7-5591-1467-7F70-2EDA4F22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AC0F4-8C03-E884-07FB-EAF9D685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2D47-100F-1F84-66AD-385CD6E8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C850-AACD-5AEB-1774-7B73DEAD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720FC-1032-FD38-B527-0EAFDBF1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168B-794F-4C42-F88B-9E08CC47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0B864-DE1B-84BD-D60D-C2E356CC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C845B-6291-F032-0A5A-54947F7D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7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1092-1D8D-9FA2-7744-125A303B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474AE-E3E2-7473-9CFA-34E1F5FA8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41E4-2114-E906-ABB5-001DF66C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30910-1815-013B-7CD5-92E6DD57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DB943-D9E2-352D-6F69-E3E757AE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6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7213-4308-9563-3513-7E916722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26FA0-CE40-1F2C-FE87-059CD6185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65DBD-D3C0-E6B0-D49F-AC45A25B2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19832-4CE5-6354-2BAD-DD8CCC2B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74797-F164-09C4-346C-25BA3ECD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9D48D-43CC-7BA0-B697-1042C9A4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4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E303-2093-6822-72DF-67D21346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F41F9-EEDA-4722-13A0-D9502E828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5A346-3D41-E359-B9D7-D517370ED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9C376-6F90-FFB4-D0C1-C6A9A32B8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F5809-64F8-8424-7AEF-AC35F53B6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E90F7-E68C-86E9-031F-F776E13C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4763C-07AE-F2E5-3EA2-8C439B21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9F5A4-6C4F-9908-9E9C-83960F0F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8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97A8-92F1-9CE3-652B-C0F2BB95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6AEAF-2120-8703-B9B7-79CDE21D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CADFA-E547-95E2-22A8-897299F2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0D729-7466-7775-1270-62D3EA59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5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CB77C-F3A4-4AB5-75DB-9C67F368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B9838-68E3-B13E-0468-61B3FFB3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4A4F-A634-C1A3-F25B-A1AFA99F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2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07A7-1087-EDBF-BF8A-026B8448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4C4F-2217-B8A1-F260-6EB360CA6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C8211-CA15-8B37-D65B-5572E374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8D540-F2BF-CA1C-F2A2-55A0846F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B805C-AF98-5E06-3FEC-A6850FDB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4D3BA-50D7-D870-7B29-6C632DE9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03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0BBE-1E9C-50F8-5062-B6480EC4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B5589-7D38-F8E7-A2B1-6EB29B0A2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F49DB-FE79-D5D7-EA39-3C30FB277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7D544-B924-1725-E0C1-050A9B8D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95B8A-65E8-7221-922A-55E8FDB0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6ABF2-1310-1F85-1AD5-D37F7DE8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1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1244-B0A8-7A6E-B650-58D32985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9F69F-FB6B-C003-3237-1282F7A93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36584-DF1A-1DBB-EF59-82762EA3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B4418-BED8-A451-50A2-1F714865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28584-F7D4-1E04-33DA-01A292DA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7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D1C93-E8DD-2EC8-E63B-CE201F344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FFC2E-E197-BC71-4391-6A6DD4D3D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6CB4B-B033-2934-BFB1-64215A88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5A953-582A-FED3-9AB2-7DE68063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1E6F9-C0EA-E3D9-3879-2A199EEF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0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1D79E-0DE0-BE68-92C1-ABC8555B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391A3-1811-8D89-D1AD-44CE722DA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403BE-22EA-4AB2-B2DB-8B54A0FFE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D9464-AA3D-4AEC-A112-A2D43F41AD5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B7D9-705F-B0B7-CF44-976B6C96D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92F3-2C42-D430-BCF4-95827B6DB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1ED9-8B73-4132-87B5-553E9CABF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C00D-15F8-F15D-160B-FC7970051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326A5-CBCC-5E11-7342-0A0913C79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7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763EFA-1B42-C6D9-E019-63B3087C9F38}"/>
              </a:ext>
            </a:extLst>
          </p:cNvPr>
          <p:cNvSpPr/>
          <p:nvPr/>
        </p:nvSpPr>
        <p:spPr>
          <a:xfrm>
            <a:off x="496693" y="1045366"/>
            <a:ext cx="3260439" cy="418889"/>
          </a:xfrm>
          <a:prstGeom prst="rect">
            <a:avLst/>
          </a:prstGeom>
          <a:gradFill>
            <a:gsLst>
              <a:gs pos="37000">
                <a:srgbClr val="66BFBF"/>
              </a:gs>
              <a:gs pos="0">
                <a:schemeClr val="bg1"/>
              </a:gs>
              <a:gs pos="100000">
                <a:srgbClr val="06847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46033-65B4-13C5-3B84-21643DA3155C}"/>
              </a:ext>
            </a:extLst>
          </p:cNvPr>
          <p:cNvSpPr txBox="1"/>
          <p:nvPr/>
        </p:nvSpPr>
        <p:spPr>
          <a:xfrm>
            <a:off x="753838" y="1116310"/>
            <a:ext cx="3075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BKG Incident Ticket Dashboard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394EF6-CBCC-5E6C-65A8-5B108AEEBDE4}"/>
              </a:ext>
            </a:extLst>
          </p:cNvPr>
          <p:cNvSpPr/>
          <p:nvPr/>
        </p:nvSpPr>
        <p:spPr>
          <a:xfrm>
            <a:off x="316584" y="1098861"/>
            <a:ext cx="364637" cy="311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CD9174-20E0-12E4-6BFB-5D12F618F7DC}"/>
              </a:ext>
            </a:extLst>
          </p:cNvPr>
          <p:cNvSpPr/>
          <p:nvPr/>
        </p:nvSpPr>
        <p:spPr>
          <a:xfrm>
            <a:off x="484295" y="1185668"/>
            <a:ext cx="146507" cy="138284"/>
          </a:xfrm>
          <a:prstGeom prst="ellipse">
            <a:avLst/>
          </a:prstGeom>
          <a:solidFill>
            <a:srgbClr val="079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ACE39D-4CEA-53D6-DB31-D2DD0D611A28}"/>
              </a:ext>
            </a:extLst>
          </p:cNvPr>
          <p:cNvSpPr txBox="1"/>
          <p:nvPr/>
        </p:nvSpPr>
        <p:spPr>
          <a:xfrm>
            <a:off x="1052681" y="2044998"/>
            <a:ext cx="28076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evelop a dashboard to visualize incident ticket trends raised to the FI Team for the Bangkok site.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6B5A0B-185A-E743-CECF-65BF6080E5A0}"/>
              </a:ext>
            </a:extLst>
          </p:cNvPr>
          <p:cNvSpPr/>
          <p:nvPr/>
        </p:nvSpPr>
        <p:spPr>
          <a:xfrm>
            <a:off x="4373516" y="1074082"/>
            <a:ext cx="3260439" cy="418889"/>
          </a:xfrm>
          <a:prstGeom prst="rect">
            <a:avLst/>
          </a:prstGeom>
          <a:gradFill>
            <a:gsLst>
              <a:gs pos="37000">
                <a:srgbClr val="66BFBF"/>
              </a:gs>
              <a:gs pos="0">
                <a:schemeClr val="bg1"/>
              </a:gs>
              <a:gs pos="100000">
                <a:srgbClr val="06847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E00772-AB7B-76CB-0FA7-3C4FACE07667}"/>
              </a:ext>
            </a:extLst>
          </p:cNvPr>
          <p:cNvSpPr txBox="1"/>
          <p:nvPr/>
        </p:nvSpPr>
        <p:spPr>
          <a:xfrm>
            <a:off x="4567439" y="1145026"/>
            <a:ext cx="339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BKG MDI Incident Ticket Dashboard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82D9F4-14D6-92FB-7C6D-9F65F11EC5EC}"/>
              </a:ext>
            </a:extLst>
          </p:cNvPr>
          <p:cNvSpPr/>
          <p:nvPr/>
        </p:nvSpPr>
        <p:spPr>
          <a:xfrm>
            <a:off x="4193407" y="1127577"/>
            <a:ext cx="364637" cy="311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BCF89F-8586-ED17-3E35-FD759D97340B}"/>
              </a:ext>
            </a:extLst>
          </p:cNvPr>
          <p:cNvSpPr/>
          <p:nvPr/>
        </p:nvSpPr>
        <p:spPr>
          <a:xfrm>
            <a:off x="4361118" y="1214384"/>
            <a:ext cx="146507" cy="138284"/>
          </a:xfrm>
          <a:prstGeom prst="ellipse">
            <a:avLst/>
          </a:prstGeom>
          <a:solidFill>
            <a:srgbClr val="079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27EF79-71D9-363E-4EED-F2BA3E85E3AD}"/>
              </a:ext>
            </a:extLst>
          </p:cNvPr>
          <p:cNvSpPr/>
          <p:nvPr/>
        </p:nvSpPr>
        <p:spPr>
          <a:xfrm>
            <a:off x="8371647" y="1103281"/>
            <a:ext cx="3260439" cy="418889"/>
          </a:xfrm>
          <a:prstGeom prst="rect">
            <a:avLst/>
          </a:prstGeom>
          <a:gradFill>
            <a:gsLst>
              <a:gs pos="37000">
                <a:srgbClr val="66BFBF"/>
              </a:gs>
              <a:gs pos="0">
                <a:schemeClr val="bg1"/>
              </a:gs>
              <a:gs pos="100000">
                <a:srgbClr val="06847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73B13B-1D9B-C758-453E-F946CC7B46BD}"/>
              </a:ext>
            </a:extLst>
          </p:cNvPr>
          <p:cNvSpPr txBox="1"/>
          <p:nvPr/>
        </p:nvSpPr>
        <p:spPr>
          <a:xfrm>
            <a:off x="8568573" y="1174225"/>
            <a:ext cx="3075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BKG WT Helper Investigation Application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289C9DF-22D1-F5C3-4676-2E5221D8A3F8}"/>
              </a:ext>
            </a:extLst>
          </p:cNvPr>
          <p:cNvSpPr/>
          <p:nvPr/>
        </p:nvSpPr>
        <p:spPr>
          <a:xfrm>
            <a:off x="8191538" y="1156776"/>
            <a:ext cx="364637" cy="3118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17D1149-7603-D053-3BAD-F0AABF18D59E}"/>
              </a:ext>
            </a:extLst>
          </p:cNvPr>
          <p:cNvSpPr/>
          <p:nvPr/>
        </p:nvSpPr>
        <p:spPr>
          <a:xfrm>
            <a:off x="8359249" y="1243583"/>
            <a:ext cx="146507" cy="138284"/>
          </a:xfrm>
          <a:prstGeom prst="ellipse">
            <a:avLst/>
          </a:prstGeom>
          <a:solidFill>
            <a:srgbClr val="079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BEDE27C-3027-859C-3168-AE435FA16E12}"/>
              </a:ext>
            </a:extLst>
          </p:cNvPr>
          <p:cNvCxnSpPr/>
          <p:nvPr/>
        </p:nvCxnSpPr>
        <p:spPr>
          <a:xfrm>
            <a:off x="707394" y="2782914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Document outline">
            <a:extLst>
              <a:ext uri="{FF2B5EF4-FFF2-40B4-BE49-F238E27FC236}">
                <a16:creationId xmlns:a16="http://schemas.microsoft.com/office/drawing/2014/main" id="{8478E7BA-4084-9B5F-23F4-947E23F3F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458" y="1748809"/>
            <a:ext cx="646224" cy="64622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3C729E0-DFB4-90E4-A199-5BD697B23D2B}"/>
              </a:ext>
            </a:extLst>
          </p:cNvPr>
          <p:cNvSpPr txBox="1"/>
          <p:nvPr/>
        </p:nvSpPr>
        <p:spPr>
          <a:xfrm>
            <a:off x="1007914" y="2904863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Functions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9359B8F-682B-037C-81D0-C70818F8F174}"/>
              </a:ext>
            </a:extLst>
          </p:cNvPr>
          <p:cNvCxnSpPr/>
          <p:nvPr/>
        </p:nvCxnSpPr>
        <p:spPr>
          <a:xfrm>
            <a:off x="783649" y="4696868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9F95E55-957E-D572-E87C-6F8EED8AC887}"/>
              </a:ext>
            </a:extLst>
          </p:cNvPr>
          <p:cNvSpPr txBox="1"/>
          <p:nvPr/>
        </p:nvSpPr>
        <p:spPr>
          <a:xfrm>
            <a:off x="1004383" y="1623087"/>
            <a:ext cx="120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Description 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C7C559-8763-ED59-ECDC-399B4ADCE176}"/>
              </a:ext>
            </a:extLst>
          </p:cNvPr>
          <p:cNvSpPr txBox="1"/>
          <p:nvPr/>
        </p:nvSpPr>
        <p:spPr>
          <a:xfrm>
            <a:off x="1090801" y="3241294"/>
            <a:ext cx="27488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Display daily and weekly incident ticket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Highlight the top 10 products with the highest number of tickets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detailed incident ticket information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036E70-303F-3FEF-826D-AF5020B00D44}"/>
              </a:ext>
            </a:extLst>
          </p:cNvPr>
          <p:cNvSpPr txBox="1"/>
          <p:nvPr/>
        </p:nvSpPr>
        <p:spPr>
          <a:xfrm>
            <a:off x="1123375" y="4755953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Value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E153C13-14AC-8174-5C70-6C6223336E9D}"/>
              </a:ext>
            </a:extLst>
          </p:cNvPr>
          <p:cNvCxnSpPr/>
          <p:nvPr/>
        </p:nvCxnSpPr>
        <p:spPr>
          <a:xfrm>
            <a:off x="853385" y="6312189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Presentation with pie chart outline">
            <a:extLst>
              <a:ext uri="{FF2B5EF4-FFF2-40B4-BE49-F238E27FC236}">
                <a16:creationId xmlns:a16="http://schemas.microsoft.com/office/drawing/2014/main" id="{C0990C78-EF84-CF10-AC3D-712C121AB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119" y="5079934"/>
            <a:ext cx="901124" cy="90112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3230F3A-EFB3-FBAA-A4F3-3A8DB116A454}"/>
              </a:ext>
            </a:extLst>
          </p:cNvPr>
          <p:cNvSpPr txBox="1"/>
          <p:nvPr/>
        </p:nvSpPr>
        <p:spPr>
          <a:xfrm>
            <a:off x="1107088" y="5222631"/>
            <a:ext cx="2349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Increase transparency for the Bangkok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clear visibility into current incident ticket trends</a:t>
            </a:r>
          </a:p>
        </p:txBody>
      </p:sp>
      <p:pic>
        <p:nvPicPr>
          <p:cNvPr id="65" name="Graphic 64" descr="Connected outline">
            <a:extLst>
              <a:ext uri="{FF2B5EF4-FFF2-40B4-BE49-F238E27FC236}">
                <a16:creationId xmlns:a16="http://schemas.microsoft.com/office/drawing/2014/main" id="{BFABB154-E9F7-E5C7-8C43-AFC91797F3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688" y="3058752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6E5A828-9EDE-1FB0-19C8-A514863672A7}"/>
              </a:ext>
            </a:extLst>
          </p:cNvPr>
          <p:cNvSpPr txBox="1"/>
          <p:nvPr/>
        </p:nvSpPr>
        <p:spPr>
          <a:xfrm>
            <a:off x="5035113" y="2044998"/>
            <a:ext cx="28076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evelop a dashboard to visualize incident ticket trends raised to the MDI Team for the Bangkok site.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E91104-D4C8-7926-2237-55D21014B9A1}"/>
              </a:ext>
            </a:extLst>
          </p:cNvPr>
          <p:cNvCxnSpPr/>
          <p:nvPr/>
        </p:nvCxnSpPr>
        <p:spPr>
          <a:xfrm>
            <a:off x="4689826" y="2782914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7" descr="Document outline">
            <a:extLst>
              <a:ext uri="{FF2B5EF4-FFF2-40B4-BE49-F238E27FC236}">
                <a16:creationId xmlns:a16="http://schemas.microsoft.com/office/drawing/2014/main" id="{76B40B72-D501-0AC5-21F7-0F874868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1890" y="1748809"/>
            <a:ext cx="646224" cy="646224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1FFD083-1EDB-683B-FB5E-3011E8FDF9CF}"/>
              </a:ext>
            </a:extLst>
          </p:cNvPr>
          <p:cNvSpPr txBox="1"/>
          <p:nvPr/>
        </p:nvSpPr>
        <p:spPr>
          <a:xfrm>
            <a:off x="5035113" y="2837793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Functions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D5D2D97-87C6-8C02-4B94-605DBED2AEA4}"/>
              </a:ext>
            </a:extLst>
          </p:cNvPr>
          <p:cNvCxnSpPr/>
          <p:nvPr/>
        </p:nvCxnSpPr>
        <p:spPr>
          <a:xfrm>
            <a:off x="4813377" y="4715335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63EC966-BA9A-B32A-9CE9-CC0909375110}"/>
              </a:ext>
            </a:extLst>
          </p:cNvPr>
          <p:cNvSpPr txBox="1"/>
          <p:nvPr/>
        </p:nvSpPr>
        <p:spPr>
          <a:xfrm>
            <a:off x="4990346" y="1579420"/>
            <a:ext cx="120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Description 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39689F-6C20-29B6-F00F-B298FCA0E5CA}"/>
              </a:ext>
            </a:extLst>
          </p:cNvPr>
          <p:cNvSpPr txBox="1"/>
          <p:nvPr/>
        </p:nvSpPr>
        <p:spPr>
          <a:xfrm>
            <a:off x="5060819" y="3141619"/>
            <a:ext cx="28214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Display daily and weekly incident ticket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detailed incident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Show Pareto analysis and resolution time used to close tickets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Connect ticket to remedy website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149BDA-7602-2228-3D86-B704A3922764}"/>
              </a:ext>
            </a:extLst>
          </p:cNvPr>
          <p:cNvSpPr txBox="1"/>
          <p:nvPr/>
        </p:nvSpPr>
        <p:spPr>
          <a:xfrm>
            <a:off x="5077106" y="4761312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Value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642B20-FEE7-9B2D-367D-61ABA4E12FED}"/>
              </a:ext>
            </a:extLst>
          </p:cNvPr>
          <p:cNvCxnSpPr/>
          <p:nvPr/>
        </p:nvCxnSpPr>
        <p:spPr>
          <a:xfrm>
            <a:off x="4835817" y="6312189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Presentation with pie chart outline">
            <a:extLst>
              <a:ext uri="{FF2B5EF4-FFF2-40B4-BE49-F238E27FC236}">
                <a16:creationId xmlns:a16="http://schemas.microsoft.com/office/drawing/2014/main" id="{17993546-1CAC-8F15-64DD-C2A892DC7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5551" y="5079934"/>
            <a:ext cx="901124" cy="90112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7B1D4E5-70D4-8B77-8CD3-45FDF4A770D0}"/>
              </a:ext>
            </a:extLst>
          </p:cNvPr>
          <p:cNvSpPr txBox="1"/>
          <p:nvPr/>
        </p:nvSpPr>
        <p:spPr>
          <a:xfrm>
            <a:off x="5089519" y="5222631"/>
            <a:ext cx="3055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Increase transparency for the BKG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insight into current MDI-related incident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the pareto </a:t>
            </a:r>
          </a:p>
        </p:txBody>
      </p:sp>
      <p:pic>
        <p:nvPicPr>
          <p:cNvPr id="77" name="Graphic 76" descr="Connected outline">
            <a:extLst>
              <a:ext uri="{FF2B5EF4-FFF2-40B4-BE49-F238E27FC236}">
                <a16:creationId xmlns:a16="http://schemas.microsoft.com/office/drawing/2014/main" id="{3FC0B8C9-D6C4-5054-AB2D-A472EB8DE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5120" y="3058752"/>
            <a:ext cx="914400" cy="9144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92392747-D9B9-D7F0-9068-29D01C54D96D}"/>
              </a:ext>
            </a:extLst>
          </p:cNvPr>
          <p:cNvSpPr txBox="1"/>
          <p:nvPr/>
        </p:nvSpPr>
        <p:spPr>
          <a:xfrm>
            <a:off x="9173571" y="1906315"/>
            <a:ext cx="3203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evelop an application to support lot-stuck investigations in EBS. The tool aligns with the company’s “speed to value” objective by enhancing operational efficiency and maintaining strong SLA performance.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20032CE-99BA-D731-EECF-97704AC52271}"/>
              </a:ext>
            </a:extLst>
          </p:cNvPr>
          <p:cNvCxnSpPr/>
          <p:nvPr/>
        </p:nvCxnSpPr>
        <p:spPr>
          <a:xfrm>
            <a:off x="8646834" y="2803594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Graphic 79" descr="Document outline">
            <a:extLst>
              <a:ext uri="{FF2B5EF4-FFF2-40B4-BE49-F238E27FC236}">
                <a16:creationId xmlns:a16="http://schemas.microsoft.com/office/drawing/2014/main" id="{55256C43-56BA-D40C-BD73-2D6AB4D5D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5621" y="1737964"/>
            <a:ext cx="646224" cy="64622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266E70A-ADB8-AA92-BDD0-440CFFF35437}"/>
              </a:ext>
            </a:extLst>
          </p:cNvPr>
          <p:cNvSpPr txBox="1"/>
          <p:nvPr/>
        </p:nvSpPr>
        <p:spPr>
          <a:xfrm>
            <a:off x="8988844" y="2957069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Functions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927342-F20D-F3CA-6AC6-EF5E413CA30D}"/>
              </a:ext>
            </a:extLst>
          </p:cNvPr>
          <p:cNvCxnSpPr/>
          <p:nvPr/>
        </p:nvCxnSpPr>
        <p:spPr>
          <a:xfrm>
            <a:off x="8646834" y="4686824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1B320E3-4588-ED82-E617-E7CEC6A15B63}"/>
              </a:ext>
            </a:extLst>
          </p:cNvPr>
          <p:cNvSpPr txBox="1"/>
          <p:nvPr/>
        </p:nvSpPr>
        <p:spPr>
          <a:xfrm>
            <a:off x="8944077" y="1586084"/>
            <a:ext cx="120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Description 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7DEEB64-A28B-DE23-A033-A0895DEEECC0}"/>
              </a:ext>
            </a:extLst>
          </p:cNvPr>
          <p:cNvSpPr txBox="1"/>
          <p:nvPr/>
        </p:nvSpPr>
        <p:spPr>
          <a:xfrm>
            <a:off x="9043251" y="3316153"/>
            <a:ext cx="2349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Display the current status of the Linux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key information for a specific lot with a single click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F548C2-AB79-2BA9-415D-A54ED9994466}"/>
              </a:ext>
            </a:extLst>
          </p:cNvPr>
          <p:cNvSpPr txBox="1"/>
          <p:nvPr/>
        </p:nvSpPr>
        <p:spPr>
          <a:xfrm>
            <a:off x="9062220" y="4715335"/>
            <a:ext cx="11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Value</a:t>
            </a:r>
            <a:endParaRPr lang="en-US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969FD7A-389B-76DC-07AB-51E6A9BE3026}"/>
              </a:ext>
            </a:extLst>
          </p:cNvPr>
          <p:cNvCxnSpPr/>
          <p:nvPr/>
        </p:nvCxnSpPr>
        <p:spPr>
          <a:xfrm>
            <a:off x="8789548" y="6301344"/>
            <a:ext cx="314852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Graphic 86" descr="Presentation with pie chart outline">
            <a:extLst>
              <a:ext uri="{FF2B5EF4-FFF2-40B4-BE49-F238E27FC236}">
                <a16:creationId xmlns:a16="http://schemas.microsoft.com/office/drawing/2014/main" id="{35E3CC75-A14C-3146-9A23-B9771FA7B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7983" y="5076812"/>
            <a:ext cx="901124" cy="901124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7EC895E-F1D1-79F1-EA68-C8552A9CA44D}"/>
              </a:ext>
            </a:extLst>
          </p:cNvPr>
          <p:cNvSpPr txBox="1"/>
          <p:nvPr/>
        </p:nvSpPr>
        <p:spPr>
          <a:xfrm>
            <a:off x="9043251" y="5211786"/>
            <a:ext cx="2349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Reduce investigation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Improve accuracy in issue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Provide real-time Linux server status</a:t>
            </a:r>
          </a:p>
        </p:txBody>
      </p:sp>
      <p:pic>
        <p:nvPicPr>
          <p:cNvPr id="89" name="Graphic 88" descr="Connected outline">
            <a:extLst>
              <a:ext uri="{FF2B5EF4-FFF2-40B4-BE49-F238E27FC236}">
                <a16:creationId xmlns:a16="http://schemas.microsoft.com/office/drawing/2014/main" id="{A7704B41-20A0-BBA5-E953-C7C965ECD5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851" y="3047907"/>
            <a:ext cx="914400" cy="9144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8A6C0D2F-F4CF-DD2D-D274-2E0973680D3B}"/>
              </a:ext>
            </a:extLst>
          </p:cNvPr>
          <p:cNvSpPr txBox="1"/>
          <p:nvPr/>
        </p:nvSpPr>
        <p:spPr>
          <a:xfrm>
            <a:off x="34318" y="139336"/>
            <a:ext cx="10329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Enabling FI Monitoring Dashboard &amp; MDI Helper Tools in BKG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084874C-5CFC-36BE-ED10-68461361564F}"/>
              </a:ext>
            </a:extLst>
          </p:cNvPr>
          <p:cNvCxnSpPr/>
          <p:nvPr/>
        </p:nvCxnSpPr>
        <p:spPr>
          <a:xfrm>
            <a:off x="0" y="721161"/>
            <a:ext cx="11517745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62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FB9E0F-FB2F-B076-EA50-CD12B484B066}"/>
              </a:ext>
            </a:extLst>
          </p:cNvPr>
          <p:cNvSpPr txBox="1"/>
          <p:nvPr/>
        </p:nvSpPr>
        <p:spPr>
          <a:xfrm>
            <a:off x="241708" y="147872"/>
            <a:ext cx="590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My BKG Support Roadmap FY2526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597DF8-0E64-9709-BD9C-4AF5B2378F5A}"/>
              </a:ext>
            </a:extLst>
          </p:cNvPr>
          <p:cNvCxnSpPr/>
          <p:nvPr/>
        </p:nvCxnSpPr>
        <p:spPr>
          <a:xfrm>
            <a:off x="0" y="721161"/>
            <a:ext cx="11517745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row: Right 8">
            <a:extLst>
              <a:ext uri="{FF2B5EF4-FFF2-40B4-BE49-F238E27FC236}">
                <a16:creationId xmlns:a16="http://schemas.microsoft.com/office/drawing/2014/main" id="{87B3C073-B046-AB7D-6780-ADF705B3B8B6}"/>
              </a:ext>
            </a:extLst>
          </p:cNvPr>
          <p:cNvSpPr/>
          <p:nvPr/>
        </p:nvSpPr>
        <p:spPr>
          <a:xfrm>
            <a:off x="114304" y="799907"/>
            <a:ext cx="12021206" cy="1519014"/>
          </a:xfrm>
          <a:prstGeom prst="rightArrow">
            <a:avLst>
              <a:gd name="adj1" fmla="val 50000"/>
              <a:gd name="adj2" fmla="val 65485"/>
            </a:avLst>
          </a:prstGeom>
          <a:gradFill>
            <a:gsLst>
              <a:gs pos="34000">
                <a:srgbClr val="66BFBF"/>
              </a:gs>
              <a:gs pos="100000">
                <a:schemeClr val="bg1"/>
              </a:gs>
              <a:gs pos="0">
                <a:srgbClr val="06847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9FA8A1CE-742E-D8A5-8EF2-A45CE22F34B1}"/>
              </a:ext>
            </a:extLst>
          </p:cNvPr>
          <p:cNvSpPr/>
          <p:nvPr/>
        </p:nvSpPr>
        <p:spPr>
          <a:xfrm>
            <a:off x="856457" y="942525"/>
            <a:ext cx="1223211" cy="1188270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ircle: Hollow 17">
            <a:extLst>
              <a:ext uri="{FF2B5EF4-FFF2-40B4-BE49-F238E27FC236}">
                <a16:creationId xmlns:a16="http://schemas.microsoft.com/office/drawing/2014/main" id="{E97F095A-57C7-32F3-E3C6-9C024752C993}"/>
              </a:ext>
            </a:extLst>
          </p:cNvPr>
          <p:cNvSpPr/>
          <p:nvPr/>
        </p:nvSpPr>
        <p:spPr>
          <a:xfrm>
            <a:off x="3860691" y="909539"/>
            <a:ext cx="1223211" cy="1188270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ircle: Hollow 18">
            <a:extLst>
              <a:ext uri="{FF2B5EF4-FFF2-40B4-BE49-F238E27FC236}">
                <a16:creationId xmlns:a16="http://schemas.microsoft.com/office/drawing/2014/main" id="{F2FE90CE-A6A2-344C-FD64-AC0EA84FDD94}"/>
              </a:ext>
            </a:extLst>
          </p:cNvPr>
          <p:cNvSpPr/>
          <p:nvPr/>
        </p:nvSpPr>
        <p:spPr>
          <a:xfrm>
            <a:off x="6743619" y="942525"/>
            <a:ext cx="1223211" cy="1188270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647A5FE8-709E-6238-C55C-04538D83003D}"/>
              </a:ext>
            </a:extLst>
          </p:cNvPr>
          <p:cNvSpPr/>
          <p:nvPr/>
        </p:nvSpPr>
        <p:spPr>
          <a:xfrm>
            <a:off x="9626547" y="919990"/>
            <a:ext cx="1223211" cy="1188270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468A9-11E4-4A56-6EC5-F813044164F2}"/>
              </a:ext>
            </a:extLst>
          </p:cNvPr>
          <p:cNvSpPr txBox="1"/>
          <p:nvPr/>
        </p:nvSpPr>
        <p:spPr>
          <a:xfrm>
            <a:off x="273105" y="2462366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Prepare to Support Final Test Module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F014A-1BAE-DCF9-4281-7EFC50B1832D}"/>
              </a:ext>
            </a:extLst>
          </p:cNvPr>
          <p:cNvSpPr txBox="1"/>
          <p:nvPr/>
        </p:nvSpPr>
        <p:spPr>
          <a:xfrm>
            <a:off x="441674" y="2818902"/>
            <a:ext cx="2591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Learn and collaborate with the global MDI Team, focusing on MDI and EBS requirements for Final Test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Study and understand the production flow of the Final Test Module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D3FCE-9555-FFDC-D890-1C57CFF6FBB6}"/>
              </a:ext>
            </a:extLst>
          </p:cNvPr>
          <p:cNvSpPr txBox="1"/>
          <p:nvPr/>
        </p:nvSpPr>
        <p:spPr>
          <a:xfrm>
            <a:off x="1254652" y="1382771"/>
            <a:ext cx="42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Q1</a:t>
            </a:r>
            <a:endParaRPr lang="en-US" sz="10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E64CF1-D0D5-B927-8AF2-24891934CD6E}"/>
              </a:ext>
            </a:extLst>
          </p:cNvPr>
          <p:cNvSpPr txBox="1"/>
          <p:nvPr/>
        </p:nvSpPr>
        <p:spPr>
          <a:xfrm>
            <a:off x="4258886" y="1349785"/>
            <a:ext cx="42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Q2</a:t>
            </a:r>
            <a:endParaRPr lang="en-US" sz="10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532D91-90F8-C71F-CBA2-2A1B91E837E4}"/>
              </a:ext>
            </a:extLst>
          </p:cNvPr>
          <p:cNvSpPr txBox="1"/>
          <p:nvPr/>
        </p:nvSpPr>
        <p:spPr>
          <a:xfrm>
            <a:off x="7143785" y="1382770"/>
            <a:ext cx="42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Q3</a:t>
            </a:r>
            <a:endParaRPr lang="en-US" sz="1000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BAAB03-0293-2E34-0BAF-BB80DD43260E}"/>
              </a:ext>
            </a:extLst>
          </p:cNvPr>
          <p:cNvSpPr txBox="1"/>
          <p:nvPr/>
        </p:nvSpPr>
        <p:spPr>
          <a:xfrm>
            <a:off x="10024742" y="1360235"/>
            <a:ext cx="42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Q4</a:t>
            </a:r>
            <a:endParaRPr lang="en-US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AB3ECD-8504-30B6-6DD1-72373BCCC63E}"/>
              </a:ext>
            </a:extLst>
          </p:cNvPr>
          <p:cNvSpPr txBox="1"/>
          <p:nvPr/>
        </p:nvSpPr>
        <p:spPr>
          <a:xfrm>
            <a:off x="441673" y="3353146"/>
            <a:ext cx="2137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8D20E0-3A33-2018-3C05-4EBE2535A220}"/>
              </a:ext>
            </a:extLst>
          </p:cNvPr>
          <p:cNvCxnSpPr>
            <a:cxnSpLocks/>
          </p:cNvCxnSpPr>
          <p:nvPr/>
        </p:nvCxnSpPr>
        <p:spPr>
          <a:xfrm flipH="1">
            <a:off x="3147761" y="2469413"/>
            <a:ext cx="28245" cy="364302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B0FA1E-6792-7BF1-C9C6-854532592CA0}"/>
              </a:ext>
            </a:extLst>
          </p:cNvPr>
          <p:cNvCxnSpPr>
            <a:cxnSpLocks/>
          </p:cNvCxnSpPr>
          <p:nvPr/>
        </p:nvCxnSpPr>
        <p:spPr>
          <a:xfrm>
            <a:off x="6125996" y="2493818"/>
            <a:ext cx="22384" cy="364302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7A2619C-689E-D7EC-083F-1B906C79F418}"/>
              </a:ext>
            </a:extLst>
          </p:cNvPr>
          <p:cNvCxnSpPr>
            <a:cxnSpLocks/>
          </p:cNvCxnSpPr>
          <p:nvPr/>
        </p:nvCxnSpPr>
        <p:spPr>
          <a:xfrm>
            <a:off x="9023036" y="2469413"/>
            <a:ext cx="20630" cy="364302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56503E-5096-7BB3-EE60-74AA627753C4}"/>
              </a:ext>
            </a:extLst>
          </p:cNvPr>
          <p:cNvSpPr txBox="1"/>
          <p:nvPr/>
        </p:nvSpPr>
        <p:spPr>
          <a:xfrm>
            <a:off x="332509" y="4695468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MDI Operational support WT / FPM 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E74871-F319-0575-4D78-7A036527E563}"/>
              </a:ext>
            </a:extLst>
          </p:cNvPr>
          <p:cNvSpPr txBox="1"/>
          <p:nvPr/>
        </p:nvSpPr>
        <p:spPr>
          <a:xfrm>
            <a:off x="441674" y="4949384"/>
            <a:ext cx="259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Support all MDI-related topics, especially EBS system operations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DE219D-1E81-CF5D-412C-72E094EB8107}"/>
              </a:ext>
            </a:extLst>
          </p:cNvPr>
          <p:cNvSpPr txBox="1"/>
          <p:nvPr/>
        </p:nvSpPr>
        <p:spPr>
          <a:xfrm>
            <a:off x="334544" y="3904848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Enabling Parallel loading for FPM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77685D-C1A8-A22A-E026-2951C931BAAA}"/>
              </a:ext>
            </a:extLst>
          </p:cNvPr>
          <p:cNvSpPr txBox="1"/>
          <p:nvPr/>
        </p:nvSpPr>
        <p:spPr>
          <a:xfrm>
            <a:off x="457546" y="4158764"/>
            <a:ext cx="259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Improve load balancing to enable the parallel loading script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7972A-00C3-CCA8-4F82-B137B06CFCCF}"/>
              </a:ext>
            </a:extLst>
          </p:cNvPr>
          <p:cNvSpPr txBox="1"/>
          <p:nvPr/>
        </p:nvSpPr>
        <p:spPr>
          <a:xfrm>
            <a:off x="3274292" y="3923083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Develop CRB Dashboard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A14ED3-1495-760B-626F-DA2909025CAE}"/>
              </a:ext>
            </a:extLst>
          </p:cNvPr>
          <p:cNvSpPr txBox="1"/>
          <p:nvPr/>
        </p:nvSpPr>
        <p:spPr>
          <a:xfrm>
            <a:off x="332509" y="5475933"/>
            <a:ext cx="2701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Improve the knowledge of WT / FPM Area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BD1C83-A77B-A497-D4CE-3BEC9419694B}"/>
              </a:ext>
            </a:extLst>
          </p:cNvPr>
          <p:cNvSpPr txBox="1"/>
          <p:nvPr/>
        </p:nvSpPr>
        <p:spPr>
          <a:xfrm>
            <a:off x="441674" y="5729849"/>
            <a:ext cx="25919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Strengthen understanding of WT and FPM processes to improve support quality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0B8C7D-F92C-8DC0-A25E-2C8BC1891E01}"/>
              </a:ext>
            </a:extLst>
          </p:cNvPr>
          <p:cNvSpPr txBox="1"/>
          <p:nvPr/>
        </p:nvSpPr>
        <p:spPr>
          <a:xfrm>
            <a:off x="6121921" y="2454632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Prepare to Support Final Test Module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329D8D-C892-BC9A-1271-040F26E59F16}"/>
              </a:ext>
            </a:extLst>
          </p:cNvPr>
          <p:cNvSpPr txBox="1"/>
          <p:nvPr/>
        </p:nvSpPr>
        <p:spPr>
          <a:xfrm>
            <a:off x="6235161" y="2794639"/>
            <a:ext cx="2591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Continue learning and collaborating with the global MDI Team regarding MDI and EBS support for Final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Deepen understanding of the Final Test production flow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615604-65FF-A71F-8738-75195895733F}"/>
              </a:ext>
            </a:extLst>
          </p:cNvPr>
          <p:cNvSpPr txBox="1"/>
          <p:nvPr/>
        </p:nvSpPr>
        <p:spPr>
          <a:xfrm>
            <a:off x="6175407" y="3847659"/>
            <a:ext cx="26390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Prepare to Support Progeny and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Progenod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F85597-17B3-99F5-D0F4-D1A9DCC0B605}"/>
              </a:ext>
            </a:extLst>
          </p:cNvPr>
          <p:cNvSpPr txBox="1"/>
          <p:nvPr/>
        </p:nvSpPr>
        <p:spPr>
          <a:xfrm>
            <a:off x="6206916" y="4158764"/>
            <a:ext cx="24725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Learn and collaborate with the global MDI Team to support Progeny and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Progenod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CBB22F-4481-826D-01B6-D0523901D36C}"/>
              </a:ext>
            </a:extLst>
          </p:cNvPr>
          <p:cNvSpPr txBox="1"/>
          <p:nvPr/>
        </p:nvSpPr>
        <p:spPr>
          <a:xfrm>
            <a:off x="9070751" y="2457820"/>
            <a:ext cx="28475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BKG Final Helper Investigation Application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A672B6-FF60-95BE-B030-A47144E95379}"/>
              </a:ext>
            </a:extLst>
          </p:cNvPr>
          <p:cNvSpPr txBox="1"/>
          <p:nvPr/>
        </p:nvSpPr>
        <p:spPr>
          <a:xfrm>
            <a:off x="3274350" y="4290923"/>
            <a:ext cx="28475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BKG FPM Helper Investigation Application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936A1-D1AC-F86F-0456-029B0F2C02AB}"/>
              </a:ext>
            </a:extLst>
          </p:cNvPr>
          <p:cNvSpPr txBox="1"/>
          <p:nvPr/>
        </p:nvSpPr>
        <p:spPr>
          <a:xfrm>
            <a:off x="9095145" y="2882014"/>
            <a:ext cx="28572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MDI Operational support WT / FPM / Final Test 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049DBD-AE21-D662-0598-A38BB0A4257D}"/>
              </a:ext>
            </a:extLst>
          </p:cNvPr>
          <p:cNvSpPr txBox="1"/>
          <p:nvPr/>
        </p:nvSpPr>
        <p:spPr>
          <a:xfrm>
            <a:off x="9197685" y="3096420"/>
            <a:ext cx="24538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Support the all topic that relate to MDI especially to EBS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9230B9-EEA4-FB4F-6D7A-B1D51A4341BE}"/>
              </a:ext>
            </a:extLst>
          </p:cNvPr>
          <p:cNvSpPr txBox="1"/>
          <p:nvPr/>
        </p:nvSpPr>
        <p:spPr>
          <a:xfrm>
            <a:off x="9086201" y="3599367"/>
            <a:ext cx="25988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Improve the knowledge on WT / FPM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AD5658-FB11-5486-7A3D-79823D2CC9F0}"/>
              </a:ext>
            </a:extLst>
          </p:cNvPr>
          <p:cNvSpPr txBox="1"/>
          <p:nvPr/>
        </p:nvSpPr>
        <p:spPr>
          <a:xfrm>
            <a:off x="9176443" y="3858015"/>
            <a:ext cx="24538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Improve and increase knowledge on WT area and FPM area for better support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B4EAA2-D111-CEAE-C941-7BDD96D121BF}"/>
              </a:ext>
            </a:extLst>
          </p:cNvPr>
          <p:cNvSpPr txBox="1"/>
          <p:nvPr/>
        </p:nvSpPr>
        <p:spPr>
          <a:xfrm>
            <a:off x="3304927" y="2463765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Prepare to Support Final Test Module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A2752D-F18A-9FEE-12C7-6F495187671D}"/>
              </a:ext>
            </a:extLst>
          </p:cNvPr>
          <p:cNvSpPr txBox="1"/>
          <p:nvPr/>
        </p:nvSpPr>
        <p:spPr>
          <a:xfrm>
            <a:off x="3421186" y="2818902"/>
            <a:ext cx="2591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Learn and collaborate with the global MDI Team, focusing on MDI and EBS requirements for Final Test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Study and understand the production flow of the Final Test Module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DB4197-6C5A-0923-1396-5337E340719C}"/>
              </a:ext>
            </a:extLst>
          </p:cNvPr>
          <p:cNvSpPr txBox="1"/>
          <p:nvPr/>
        </p:nvSpPr>
        <p:spPr>
          <a:xfrm>
            <a:off x="3254926" y="4707529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MDI Operational support WT / FPM 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08B28C-70A2-961E-5FF8-3441E88F2461}"/>
              </a:ext>
            </a:extLst>
          </p:cNvPr>
          <p:cNvSpPr txBox="1"/>
          <p:nvPr/>
        </p:nvSpPr>
        <p:spPr>
          <a:xfrm>
            <a:off x="3364091" y="4961445"/>
            <a:ext cx="259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Support all MDI-related topics, especially EBS system operations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6EF54C-5029-B121-6930-3AF5FC6646CA}"/>
              </a:ext>
            </a:extLst>
          </p:cNvPr>
          <p:cNvSpPr txBox="1"/>
          <p:nvPr/>
        </p:nvSpPr>
        <p:spPr>
          <a:xfrm>
            <a:off x="3254926" y="5487994"/>
            <a:ext cx="2701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Improve the knowledge of WT / FPM Area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FE7800-A565-54B6-0AC3-A74DFFDAF600}"/>
              </a:ext>
            </a:extLst>
          </p:cNvPr>
          <p:cNvSpPr txBox="1"/>
          <p:nvPr/>
        </p:nvSpPr>
        <p:spPr>
          <a:xfrm>
            <a:off x="3364091" y="5741910"/>
            <a:ext cx="25919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Strengthen understanding of WT and FPM processes to improve support quality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7F45F7-F5FA-9BD8-6B29-D21C65BD066D}"/>
              </a:ext>
            </a:extLst>
          </p:cNvPr>
          <p:cNvSpPr txBox="1"/>
          <p:nvPr/>
        </p:nvSpPr>
        <p:spPr>
          <a:xfrm>
            <a:off x="6199451" y="4690302"/>
            <a:ext cx="28907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MDI Operational Support WT / FPM / Final Test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6185E46-B855-5094-C47C-CE0818CC067B}"/>
              </a:ext>
            </a:extLst>
          </p:cNvPr>
          <p:cNvSpPr txBox="1"/>
          <p:nvPr/>
        </p:nvSpPr>
        <p:spPr>
          <a:xfrm>
            <a:off x="6245187" y="4961445"/>
            <a:ext cx="259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Support all MDI-related topics, especially EBS system operations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042E62-EE2F-231C-DB45-5F851057070E}"/>
              </a:ext>
            </a:extLst>
          </p:cNvPr>
          <p:cNvSpPr txBox="1"/>
          <p:nvPr/>
        </p:nvSpPr>
        <p:spPr>
          <a:xfrm>
            <a:off x="6344326" y="5729849"/>
            <a:ext cx="25919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Strengthen understanding of WT and FPM processes to improve support quality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DD1F8F-0071-B781-0684-8F5C04D34F78}"/>
              </a:ext>
            </a:extLst>
          </p:cNvPr>
          <p:cNvSpPr txBox="1"/>
          <p:nvPr/>
        </p:nvSpPr>
        <p:spPr>
          <a:xfrm>
            <a:off x="6206916" y="5475933"/>
            <a:ext cx="2701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Improve the knowledge of WT / FPM Area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150432A-92A6-A47E-9EA1-75C436293FD5}"/>
              </a:ext>
            </a:extLst>
          </p:cNvPr>
          <p:cNvSpPr txBox="1"/>
          <p:nvPr/>
        </p:nvSpPr>
        <p:spPr>
          <a:xfrm>
            <a:off x="9095145" y="4463600"/>
            <a:ext cx="26390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Prepare to Support Progeny and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Progenod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23F9B17-E0D0-F4E8-143E-A5CD899DD473}"/>
              </a:ext>
            </a:extLst>
          </p:cNvPr>
          <p:cNvSpPr txBox="1"/>
          <p:nvPr/>
        </p:nvSpPr>
        <p:spPr>
          <a:xfrm>
            <a:off x="9110157" y="4745331"/>
            <a:ext cx="24725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Learn and collaborate with the global MDI Team to support Progeny and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304020202020204" pitchFamily="34" charset="0"/>
              </a:rPr>
              <a:t>Progenod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 Nova Light" panose="020B03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94BA77-5899-2DD7-B333-6ACD93FC8B9E}"/>
              </a:ext>
            </a:extLst>
          </p:cNvPr>
          <p:cNvSpPr txBox="1"/>
          <p:nvPr/>
        </p:nvSpPr>
        <p:spPr>
          <a:xfrm>
            <a:off x="6206916" y="6257294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Develop New Dashboard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F2CC1C-A0C3-DCFD-2BE3-722E36FFAE0B}"/>
              </a:ext>
            </a:extLst>
          </p:cNvPr>
          <p:cNvSpPr txBox="1"/>
          <p:nvPr/>
        </p:nvSpPr>
        <p:spPr>
          <a:xfrm>
            <a:off x="9103956" y="5475933"/>
            <a:ext cx="2367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Light" panose="020B0304020202020204" pitchFamily="34" charset="0"/>
              </a:rPr>
              <a:t>Develop New Dashboard</a:t>
            </a:r>
            <a:endParaRPr lang="en-US" sz="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14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901B-8269-2C62-B108-41E07B1C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6DEF-9785-7360-8324-1252F55BB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8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541</Words>
  <Application>Microsoft Office PowerPoint</Application>
  <PresentationFormat>Widescreen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Nova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Aphiwat Deelorm</dc:creator>
  <cp:lastModifiedBy>Aphiwat Deelorm</cp:lastModifiedBy>
  <cp:revision>1</cp:revision>
  <dcterms:created xsi:type="dcterms:W3CDTF">2025-11-19T13:31:47Z</dcterms:created>
  <dcterms:modified xsi:type="dcterms:W3CDTF">2025-11-19T15:58:49Z</dcterms:modified>
</cp:coreProperties>
</file>